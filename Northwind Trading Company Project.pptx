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e7325fbd3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e7325fbd3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e7325fbd3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e7325fbd3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e7325fbd3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e7325fbd3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e7325fbd3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e7325fbd3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7325fbd3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7325fbd3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7325fbd3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e7325fbd3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e7325fbd39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e7325fbd39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e7325fbd39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e7325fbd39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e7325fbd3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e7325fbd3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e7325fbd39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e7325fbd39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7325fbd39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7325fbd39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e7325fbd39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e7325fbd39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7325fbd39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7325fbd39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7325fbd39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7325fbd39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e7325fbd39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e7325fbd39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e7325fbd39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e7325fbd3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C5C7B"/>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200" y="319825"/>
            <a:ext cx="8521200" cy="4661400"/>
          </a:xfrm>
          <a:prstGeom prst="rect">
            <a:avLst/>
          </a:prstGeom>
          <a:ln cap="flat" cmpd="tri" w="76200">
            <a:solidFill>
              <a:schemeClr val="lt1"/>
            </a:solidFill>
            <a:prstDash val="solid"/>
            <a:bevel/>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b="1" lang="en"/>
              <a:t>                    </a:t>
            </a:r>
            <a:r>
              <a:rPr b="1" lang="en">
                <a:solidFill>
                  <a:schemeClr val="lt1"/>
                </a:solidFill>
              </a:rPr>
              <a:t>  </a:t>
            </a:r>
            <a:r>
              <a:rPr b="1" lang="en">
                <a:solidFill>
                  <a:schemeClr val="lt1"/>
                </a:solidFill>
              </a:rPr>
              <a:t>DAHEL TECHNOLOGY</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t/>
            </a:r>
            <a:endParaRPr b="1">
              <a:solidFill>
                <a:schemeClr val="lt1"/>
              </a:solidFill>
            </a:endParaRPr>
          </a:p>
          <a:p>
            <a:pPr indent="0" lvl="0" marL="0" rtl="0" algn="l">
              <a:spcBef>
                <a:spcPts val="0"/>
              </a:spcBef>
              <a:spcAft>
                <a:spcPts val="0"/>
              </a:spcAft>
              <a:buNone/>
            </a:pPr>
            <a:r>
              <a:rPr b="1" lang="en">
                <a:solidFill>
                  <a:schemeClr val="lt1"/>
                </a:solidFill>
              </a:rPr>
              <a:t>  </a:t>
            </a:r>
            <a:endParaRPr b="1">
              <a:solidFill>
                <a:schemeClr val="lt1"/>
              </a:solidFill>
            </a:endParaRPr>
          </a:p>
          <a:p>
            <a:pPr indent="0" lvl="0" marL="0" rtl="0" algn="l">
              <a:spcBef>
                <a:spcPts val="0"/>
              </a:spcBef>
              <a:spcAft>
                <a:spcPts val="0"/>
              </a:spcAft>
              <a:buNone/>
            </a:pPr>
            <a:r>
              <a:rPr b="1" lang="en" sz="1878">
                <a:solidFill>
                  <a:schemeClr val="lt1"/>
                </a:solidFill>
              </a:rPr>
              <a:t>                         </a:t>
            </a:r>
            <a:r>
              <a:rPr b="1" lang="en" sz="1878">
                <a:solidFill>
                  <a:schemeClr val="lt1"/>
                </a:solidFill>
              </a:rPr>
              <a:t>DATA ANALYTICS INTERNSHIP PROJECT</a:t>
            </a:r>
            <a:endParaRPr b="1" sz="1878">
              <a:solidFill>
                <a:schemeClr val="lt1"/>
              </a:solidFill>
            </a:endParaRPr>
          </a:p>
          <a:p>
            <a:pPr indent="0" lvl="0" marL="0" rtl="0" algn="l">
              <a:spcBef>
                <a:spcPts val="0"/>
              </a:spcBef>
              <a:spcAft>
                <a:spcPts val="0"/>
              </a:spcAft>
              <a:buNone/>
            </a:pPr>
            <a:r>
              <a:t/>
            </a:r>
            <a:endParaRPr b="1" sz="1878">
              <a:solidFill>
                <a:schemeClr val="lt1"/>
              </a:solidFill>
            </a:endParaRPr>
          </a:p>
          <a:p>
            <a:pPr indent="0" lvl="0" marL="0" rtl="0" algn="l">
              <a:spcBef>
                <a:spcPts val="0"/>
              </a:spcBef>
              <a:spcAft>
                <a:spcPts val="0"/>
              </a:spcAft>
              <a:buNone/>
            </a:pPr>
            <a:r>
              <a:rPr b="1" lang="en" sz="1878">
                <a:solidFill>
                  <a:schemeClr val="lt1"/>
                </a:solidFill>
              </a:rPr>
              <a:t>                                  JANUARY COHORT  GROUP 2</a:t>
            </a:r>
            <a:endParaRPr b="1" sz="3578">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302675"/>
            <a:ext cx="8520600" cy="670200"/>
          </a:xfrm>
          <a:prstGeom prst="rect">
            <a:avLst/>
          </a:prstGeom>
          <a:solidFill>
            <a:srgbClr val="2C5C7B"/>
          </a:solidFill>
          <a:ln cap="flat" cmpd="sng" w="28575">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Clr>
                <a:schemeClr val="dk1"/>
              </a:buClr>
              <a:buSzPts val="1100"/>
              <a:buFont typeface="Arial"/>
              <a:buNone/>
            </a:pPr>
            <a:r>
              <a:rPr lang="en" sz="1800">
                <a:solidFill>
                  <a:schemeClr val="dk2"/>
                </a:solidFill>
              </a:rPr>
              <a:t>                                  </a:t>
            </a:r>
            <a:r>
              <a:rPr b="1" lang="en" sz="1800">
                <a:solidFill>
                  <a:schemeClr val="lt1"/>
                </a:solidFill>
              </a:rPr>
              <a:t>PROJECT </a:t>
            </a:r>
            <a:r>
              <a:rPr b="1" lang="en" sz="1800">
                <a:solidFill>
                  <a:schemeClr val="lt1"/>
                </a:solidFill>
              </a:rPr>
              <a:t>TEAM MEMBERS</a:t>
            </a:r>
            <a:endParaRPr b="1">
              <a:solidFill>
                <a:schemeClr val="lt1"/>
              </a:solidFill>
            </a:endParaRPr>
          </a:p>
        </p:txBody>
      </p:sp>
      <p:sp>
        <p:nvSpPr>
          <p:cNvPr id="60" name="Google Shape;60;p14"/>
          <p:cNvSpPr txBox="1"/>
          <p:nvPr>
            <p:ph idx="1" type="body"/>
          </p:nvPr>
        </p:nvSpPr>
        <p:spPr>
          <a:xfrm>
            <a:off x="311700" y="1017725"/>
            <a:ext cx="8520600" cy="35511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
                <a:solidFill>
                  <a:schemeClr val="dk1"/>
                </a:solidFill>
              </a:rPr>
              <a:t>Love Eka</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Norah Kanu Enun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Aroh Sylvester Chijioke</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Ejike Ugochinyere Grace</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Akpan, Ekeminiabasi Uduak</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Amaka Odigwe</a:t>
            </a:r>
            <a:endParaRPr>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260775" y="129275"/>
            <a:ext cx="8520600" cy="843600"/>
          </a:xfrm>
          <a:prstGeom prst="rect">
            <a:avLst/>
          </a:prstGeom>
          <a:solidFill>
            <a:srgbClr val="2C5C7B"/>
          </a:solidFill>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sz="1700"/>
              <a:t>                                                             </a:t>
            </a:r>
            <a:br>
              <a:rPr b="1" lang="en" sz="1700"/>
            </a:br>
            <a:r>
              <a:rPr b="1" lang="en" sz="1700"/>
              <a:t>          </a:t>
            </a:r>
            <a:r>
              <a:rPr b="1" lang="en" sz="1700">
                <a:solidFill>
                  <a:schemeClr val="lt1"/>
                </a:solidFill>
              </a:rPr>
              <a:t>DAHEL DATA ANALYTICS CAPSTONE PROJECT(JANUARY COHORT)</a:t>
            </a:r>
            <a:endParaRPr b="1" sz="3400">
              <a:solidFill>
                <a:schemeClr val="lt1"/>
              </a:solidFill>
            </a:endParaRPr>
          </a:p>
        </p:txBody>
      </p:sp>
      <p:sp>
        <p:nvSpPr>
          <p:cNvPr id="66" name="Google Shape;66;p15"/>
          <p:cNvSpPr txBox="1"/>
          <p:nvPr>
            <p:ph idx="1" type="body"/>
          </p:nvPr>
        </p:nvSpPr>
        <p:spPr>
          <a:xfrm>
            <a:off x="260775" y="918700"/>
            <a:ext cx="8520600" cy="39135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85000" lnSpcReduction="20000"/>
          </a:bodyPr>
          <a:lstStyle/>
          <a:p>
            <a:pPr indent="0" lvl="0" marL="0" rtl="0" algn="l">
              <a:spcBef>
                <a:spcPts val="1200"/>
              </a:spcBef>
              <a:spcAft>
                <a:spcPts val="0"/>
              </a:spcAft>
              <a:buNone/>
            </a:pPr>
            <a:r>
              <a:t/>
            </a:r>
            <a:endParaRPr b="1" sz="1500">
              <a:solidFill>
                <a:schemeClr val="dk1"/>
              </a:solidFill>
            </a:endParaRPr>
          </a:p>
          <a:p>
            <a:pPr indent="0" lvl="0" marL="0" rtl="0" algn="l">
              <a:spcBef>
                <a:spcPts val="1200"/>
              </a:spcBef>
              <a:spcAft>
                <a:spcPts val="0"/>
              </a:spcAft>
              <a:buNone/>
            </a:pPr>
            <a:r>
              <a:rPr b="1" lang="en" sz="1500">
                <a:solidFill>
                  <a:schemeClr val="dk1"/>
                </a:solidFill>
              </a:rPr>
              <a:t>PROJECT TOPIC:  ANALYSIS ON </a:t>
            </a:r>
            <a:r>
              <a:rPr b="1" lang="en" sz="1500">
                <a:solidFill>
                  <a:schemeClr val="dk1"/>
                </a:solidFill>
              </a:rPr>
              <a:t>NORTHWIND TRADERS,RETAIL AND SUPPLY CHAIN </a:t>
            </a:r>
            <a:endParaRPr b="1" sz="1500">
              <a:solidFill>
                <a:schemeClr val="dk1"/>
              </a:solidFill>
            </a:endParaRPr>
          </a:p>
          <a:p>
            <a:pPr indent="0" lvl="0" marL="0" rtl="0" algn="l">
              <a:spcBef>
                <a:spcPts val="1200"/>
              </a:spcBef>
              <a:spcAft>
                <a:spcPts val="0"/>
              </a:spcAft>
              <a:buNone/>
            </a:pPr>
            <a:r>
              <a:t/>
            </a:r>
            <a:endParaRPr b="1" sz="1500">
              <a:solidFill>
                <a:schemeClr val="dk1"/>
              </a:solidFill>
            </a:endParaRPr>
          </a:p>
          <a:p>
            <a:pPr indent="0" lvl="0" marL="0" rtl="0" algn="l">
              <a:spcBef>
                <a:spcPts val="1200"/>
              </a:spcBef>
              <a:spcAft>
                <a:spcPts val="0"/>
              </a:spcAft>
              <a:buNone/>
            </a:pPr>
            <a:r>
              <a:rPr b="1" lang="en" sz="1500">
                <a:solidFill>
                  <a:schemeClr val="dk1"/>
                </a:solidFill>
              </a:rPr>
              <a:t> </a:t>
            </a:r>
            <a:r>
              <a:rPr b="1" lang="en" sz="1500">
                <a:solidFill>
                  <a:schemeClr val="dk1"/>
                </a:solidFill>
              </a:rPr>
              <a:t>INDUSTRY</a:t>
            </a:r>
            <a:r>
              <a:rPr b="1" lang="en" sz="1500">
                <a:solidFill>
                  <a:schemeClr val="dk1"/>
                </a:solidFill>
              </a:rPr>
              <a:t>  :  </a:t>
            </a:r>
            <a:r>
              <a:rPr b="1" lang="en" sz="1500">
                <a:solidFill>
                  <a:schemeClr val="dk1"/>
                </a:solidFill>
              </a:rPr>
              <a:t>E-Commerce,Retail and  Supply Chain. </a:t>
            </a:r>
            <a:endParaRPr b="1" sz="1500">
              <a:solidFill>
                <a:schemeClr val="dk1"/>
              </a:solidFill>
            </a:endParaRPr>
          </a:p>
          <a:p>
            <a:pPr indent="0" lvl="0" marL="0" rtl="0" algn="l">
              <a:spcBef>
                <a:spcPts val="1200"/>
              </a:spcBef>
              <a:spcAft>
                <a:spcPts val="0"/>
              </a:spcAft>
              <a:buNone/>
            </a:pPr>
            <a:r>
              <a:t/>
            </a:r>
            <a:endParaRPr b="1" sz="1500">
              <a:solidFill>
                <a:schemeClr val="dk1"/>
              </a:solidFill>
            </a:endParaRPr>
          </a:p>
          <a:p>
            <a:pPr indent="0" lvl="0" marL="0" rtl="0" algn="l">
              <a:spcBef>
                <a:spcPts val="1200"/>
              </a:spcBef>
              <a:spcAft>
                <a:spcPts val="0"/>
              </a:spcAft>
              <a:buNone/>
            </a:pPr>
            <a:r>
              <a:rPr b="1" lang="en" sz="1500">
                <a:solidFill>
                  <a:schemeClr val="dk1"/>
                </a:solidFill>
              </a:rPr>
              <a:t> PREPARED BY</a:t>
            </a:r>
            <a:r>
              <a:rPr lang="en" sz="1500">
                <a:solidFill>
                  <a:schemeClr val="dk1"/>
                </a:solidFill>
              </a:rPr>
              <a:t>:  </a:t>
            </a:r>
            <a:r>
              <a:rPr b="1" lang="en" sz="1500">
                <a:solidFill>
                  <a:schemeClr val="dk1"/>
                </a:solidFill>
              </a:rPr>
              <a:t>GROUP 2</a:t>
            </a:r>
            <a:endParaRPr b="1" sz="1500">
              <a:solidFill>
                <a:schemeClr val="dk1"/>
              </a:solidFill>
            </a:endParaRPr>
          </a:p>
          <a:p>
            <a:pPr indent="0" lvl="0" marL="0" rtl="0" algn="l">
              <a:spcBef>
                <a:spcPts val="1200"/>
              </a:spcBef>
              <a:spcAft>
                <a:spcPts val="0"/>
              </a:spcAft>
              <a:buClr>
                <a:schemeClr val="dk1"/>
              </a:buClr>
              <a:buSzPct val="73333"/>
              <a:buFont typeface="Arial"/>
              <a:buNone/>
            </a:pPr>
            <a:r>
              <a:t/>
            </a:r>
            <a:endParaRPr sz="1500">
              <a:solidFill>
                <a:schemeClr val="dk1"/>
              </a:solidFill>
            </a:endParaRPr>
          </a:p>
          <a:p>
            <a:pPr indent="0" lvl="0" marL="0" rtl="0" algn="l">
              <a:spcBef>
                <a:spcPts val="1200"/>
              </a:spcBef>
              <a:spcAft>
                <a:spcPts val="0"/>
              </a:spcAft>
              <a:buClr>
                <a:schemeClr val="dk1"/>
              </a:buClr>
              <a:buSzPct val="73333"/>
              <a:buFont typeface="Arial"/>
              <a:buNone/>
            </a:pPr>
            <a:r>
              <a:rPr b="1" lang="en" sz="1500">
                <a:solidFill>
                  <a:schemeClr val="dk1"/>
                </a:solidFill>
              </a:rPr>
              <a:t>Tools Used:</a:t>
            </a:r>
            <a:endParaRPr b="1" sz="1500">
              <a:solidFill>
                <a:schemeClr val="dk1"/>
              </a:solidFill>
            </a:endParaRPr>
          </a:p>
          <a:p>
            <a:pPr indent="-309563" lvl="0" marL="457200" rtl="0" algn="l">
              <a:spcBef>
                <a:spcPts val="1200"/>
              </a:spcBef>
              <a:spcAft>
                <a:spcPts val="0"/>
              </a:spcAft>
              <a:buClr>
                <a:schemeClr val="dk1"/>
              </a:buClr>
              <a:buSzPct val="100000"/>
              <a:buChar char="●"/>
            </a:pPr>
            <a:r>
              <a:rPr lang="en" sz="1500">
                <a:solidFill>
                  <a:schemeClr val="dk1"/>
                </a:solidFill>
              </a:rPr>
              <a:t>Power BI</a:t>
            </a:r>
            <a:endParaRPr sz="1500">
              <a:solidFill>
                <a:schemeClr val="dk1"/>
              </a:solidFill>
            </a:endParaRPr>
          </a:p>
          <a:p>
            <a:pPr indent="-309563" lvl="0" marL="457200" rtl="0" algn="l">
              <a:spcBef>
                <a:spcPts val="0"/>
              </a:spcBef>
              <a:spcAft>
                <a:spcPts val="0"/>
              </a:spcAft>
              <a:buClr>
                <a:schemeClr val="dk1"/>
              </a:buClr>
              <a:buSzPct val="100000"/>
              <a:buChar char="●"/>
            </a:pPr>
            <a:r>
              <a:rPr lang="en" sz="1500">
                <a:solidFill>
                  <a:schemeClr val="dk1"/>
                </a:solidFill>
              </a:rPr>
              <a:t>SQL</a:t>
            </a:r>
            <a:endParaRPr sz="1500">
              <a:solidFill>
                <a:schemeClr val="dk1"/>
              </a:solidFill>
            </a:endParaRPr>
          </a:p>
          <a:p>
            <a:pPr indent="-309563" lvl="0" marL="457200" rtl="0" algn="l">
              <a:spcBef>
                <a:spcPts val="0"/>
              </a:spcBef>
              <a:spcAft>
                <a:spcPts val="0"/>
              </a:spcAft>
              <a:buClr>
                <a:schemeClr val="dk1"/>
              </a:buClr>
              <a:buSzPct val="100000"/>
              <a:buChar char="●"/>
            </a:pPr>
            <a:r>
              <a:rPr lang="en" sz="1500">
                <a:solidFill>
                  <a:schemeClr val="dk1"/>
                </a:solidFill>
              </a:rPr>
              <a:t>Power Query</a:t>
            </a:r>
            <a:endParaRPr sz="1500">
              <a:solidFill>
                <a:schemeClr val="dk1"/>
              </a:solidFill>
            </a:endParaRPr>
          </a:p>
          <a:p>
            <a:pPr indent="-309563" lvl="0" marL="457200" rtl="0" algn="l">
              <a:spcBef>
                <a:spcPts val="0"/>
              </a:spcBef>
              <a:spcAft>
                <a:spcPts val="0"/>
              </a:spcAft>
              <a:buClr>
                <a:schemeClr val="dk1"/>
              </a:buClr>
              <a:buSzPct val="100000"/>
              <a:buChar char="●"/>
            </a:pPr>
            <a:r>
              <a:rPr lang="en" sz="1500">
                <a:solidFill>
                  <a:schemeClr val="dk1"/>
                </a:solidFill>
              </a:rPr>
              <a:t>DAX</a:t>
            </a:r>
            <a:endParaRPr sz="1500">
              <a:solidFill>
                <a:schemeClr val="dk1"/>
              </a:solidFill>
            </a:endParaRPr>
          </a:p>
          <a:p>
            <a:pPr indent="-309563" lvl="0" marL="457200" rtl="0" algn="l">
              <a:spcBef>
                <a:spcPts val="0"/>
              </a:spcBef>
              <a:spcAft>
                <a:spcPts val="0"/>
              </a:spcAft>
              <a:buClr>
                <a:schemeClr val="dk1"/>
              </a:buClr>
              <a:buSzPct val="100000"/>
              <a:buChar char="●"/>
            </a:pPr>
            <a:r>
              <a:rPr lang="en" sz="1500">
                <a:solidFill>
                  <a:schemeClr val="dk1"/>
                </a:solidFill>
              </a:rPr>
              <a:t>Data Modeling  </a:t>
            </a:r>
            <a:endParaRPr b="1"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a:solidFill>
            <a:srgbClr val="2C5C7B"/>
          </a:solidFill>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15000"/>
              </a:lnSpc>
              <a:spcBef>
                <a:spcPts val="2400"/>
              </a:spcBef>
              <a:spcAft>
                <a:spcPts val="0"/>
              </a:spcAft>
              <a:buClr>
                <a:schemeClr val="dk1"/>
              </a:buClr>
              <a:buSzPct val="47826"/>
              <a:buFont typeface="Arial"/>
              <a:buNone/>
            </a:pPr>
            <a:r>
              <a:rPr b="1" lang="en" sz="2300"/>
              <a:t>                          </a:t>
            </a:r>
            <a:r>
              <a:rPr b="1" lang="en" sz="2633">
                <a:solidFill>
                  <a:schemeClr val="lt1"/>
                </a:solidFill>
              </a:rPr>
              <a:t>  NORTHWIND TRADING COMPANY</a:t>
            </a:r>
            <a:endParaRPr b="1" sz="2633">
              <a:solidFill>
                <a:schemeClr val="lt1"/>
              </a:solidFill>
            </a:endParaRPr>
          </a:p>
          <a:p>
            <a:pPr indent="0" lvl="0" marL="0" rtl="0" algn="l">
              <a:lnSpc>
                <a:spcPct val="115000"/>
              </a:lnSpc>
              <a:spcBef>
                <a:spcPts val="1200"/>
              </a:spcBef>
              <a:spcAft>
                <a:spcPts val="0"/>
              </a:spcAft>
              <a:buClr>
                <a:schemeClr val="dk1"/>
              </a:buClr>
              <a:buSzPct val="100000"/>
              <a:buFont typeface="Arial"/>
              <a:buNone/>
            </a:pPr>
            <a:r>
              <a:t/>
            </a:r>
            <a:endParaRPr sz="1100"/>
          </a:p>
          <a:p>
            <a:pPr indent="0" lvl="0" marL="0" rtl="0" algn="l">
              <a:spcBef>
                <a:spcPts val="1200"/>
              </a:spcBef>
              <a:spcAft>
                <a:spcPts val="0"/>
              </a:spcAft>
              <a:buNone/>
            </a:pPr>
            <a:r>
              <a:t/>
            </a:r>
            <a:endParaRPr/>
          </a:p>
        </p:txBody>
      </p:sp>
      <p:sp>
        <p:nvSpPr>
          <p:cNvPr id="72" name="Google Shape;72;p16"/>
          <p:cNvSpPr txBox="1"/>
          <p:nvPr>
            <p:ph idx="1" type="body"/>
          </p:nvPr>
        </p:nvSpPr>
        <p:spPr>
          <a:xfrm>
            <a:off x="311700" y="1073525"/>
            <a:ext cx="8520600" cy="40026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200"/>
              </a:spcBef>
              <a:spcAft>
                <a:spcPts val="0"/>
              </a:spcAft>
              <a:buNone/>
            </a:pPr>
            <a:r>
              <a:rPr b="1" lang="en" sz="1100">
                <a:solidFill>
                  <a:schemeClr val="dk1"/>
                </a:solidFill>
              </a:rPr>
              <a:t>                                                 </a:t>
            </a:r>
            <a:endParaRPr b="1" sz="1500">
              <a:solidFill>
                <a:schemeClr val="dk1"/>
              </a:solidFill>
            </a:endParaRPr>
          </a:p>
          <a:p>
            <a:pPr indent="0" lvl="0" marL="0" rtl="0" algn="l">
              <a:spcBef>
                <a:spcPts val="1200"/>
              </a:spcBef>
              <a:spcAft>
                <a:spcPts val="0"/>
              </a:spcAft>
              <a:buNone/>
            </a:pPr>
            <a:r>
              <a:rPr b="1" lang="en" sz="1500">
                <a:solidFill>
                  <a:schemeClr val="dk1"/>
                </a:solidFill>
              </a:rPr>
              <a:t>                                     </a:t>
            </a:r>
            <a:r>
              <a:rPr b="1" lang="en" sz="1700">
                <a:solidFill>
                  <a:schemeClr val="dk1"/>
                </a:solidFill>
              </a:rPr>
              <a:t>Executive Business Performance Review on</a:t>
            </a:r>
            <a:endParaRPr b="1" sz="1700">
              <a:solidFill>
                <a:schemeClr val="dk1"/>
              </a:solidFill>
            </a:endParaRPr>
          </a:p>
          <a:p>
            <a:pPr indent="0" lvl="0" marL="0" rtl="0" algn="l">
              <a:spcBef>
                <a:spcPts val="1200"/>
              </a:spcBef>
              <a:spcAft>
                <a:spcPts val="0"/>
              </a:spcAft>
              <a:buNone/>
            </a:pPr>
            <a:r>
              <a:t/>
            </a:r>
            <a:endParaRPr b="1" sz="1700">
              <a:solidFill>
                <a:schemeClr val="dk1"/>
              </a:solidFill>
            </a:endParaRPr>
          </a:p>
          <a:p>
            <a:pPr indent="0" lvl="0" marL="0" rtl="0" algn="l">
              <a:spcBef>
                <a:spcPts val="1200"/>
              </a:spcBef>
              <a:spcAft>
                <a:spcPts val="0"/>
              </a:spcAft>
              <a:buNone/>
            </a:pPr>
            <a:r>
              <a:t/>
            </a:r>
            <a:endParaRPr b="1" sz="1700">
              <a:solidFill>
                <a:schemeClr val="dk1"/>
              </a:solidFill>
            </a:endParaRPr>
          </a:p>
          <a:p>
            <a:pPr indent="0" lvl="0" marL="0" rtl="0" algn="l">
              <a:spcBef>
                <a:spcPts val="1200"/>
              </a:spcBef>
              <a:spcAft>
                <a:spcPts val="0"/>
              </a:spcAft>
              <a:buNone/>
            </a:pPr>
            <a:r>
              <a:rPr b="1" lang="en" sz="1500">
                <a:solidFill>
                  <a:schemeClr val="dk1"/>
                </a:solidFill>
              </a:rPr>
              <a:t>                     Sales, Customer, Employee, product, Inventory and Operations Analysis</a:t>
            </a:r>
            <a:endParaRPr b="1" sz="1500">
              <a:solidFill>
                <a:schemeClr val="dk1"/>
              </a:solidFill>
            </a:endParaRPr>
          </a:p>
          <a:p>
            <a:pPr indent="0" lvl="0" marL="0" rtl="0" algn="l">
              <a:spcBef>
                <a:spcPts val="1200"/>
              </a:spcBef>
              <a:spcAft>
                <a:spcPts val="0"/>
              </a:spcAft>
              <a:buNone/>
            </a:pPr>
            <a:r>
              <a:t/>
            </a:r>
            <a:endParaRPr b="1" sz="1500">
              <a:solidFill>
                <a:schemeClr val="dk1"/>
              </a:solidFill>
            </a:endParaRPr>
          </a:p>
          <a:p>
            <a:pPr indent="0" lvl="0" marL="0" rtl="0" algn="l">
              <a:spcBef>
                <a:spcPts val="1200"/>
              </a:spcBef>
              <a:spcAft>
                <a:spcPts val="1200"/>
              </a:spcAft>
              <a:buClr>
                <a:schemeClr val="dk1"/>
              </a:buClr>
              <a:buSzPts val="1100"/>
              <a:buFont typeface="Arial"/>
              <a:buNone/>
            </a:pPr>
            <a:r>
              <a:rPr b="1" lang="en" sz="1500">
                <a:solidFill>
                  <a:schemeClr val="dk1"/>
                </a:solidFill>
              </a:rPr>
              <a:t>                                                        Reporting Period: 2006 YTD</a:t>
            </a:r>
            <a:endParaRPr b="1" sz="15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250600" y="126300"/>
            <a:ext cx="8565300" cy="651900"/>
          </a:xfrm>
          <a:prstGeom prst="rect">
            <a:avLst/>
          </a:prstGeom>
          <a:solidFill>
            <a:srgbClr val="2C5C7B"/>
          </a:solidFill>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2500"/>
              <a:t>                           </a:t>
            </a:r>
            <a:r>
              <a:rPr b="1" lang="en" sz="2500">
                <a:solidFill>
                  <a:schemeClr val="lt1"/>
                </a:solidFill>
              </a:rPr>
              <a:t>BUSINESS PROBLEM</a:t>
            </a:r>
            <a:endParaRPr sz="4000">
              <a:solidFill>
                <a:schemeClr val="lt1"/>
              </a:solidFill>
            </a:endParaRPr>
          </a:p>
        </p:txBody>
      </p:sp>
      <p:sp>
        <p:nvSpPr>
          <p:cNvPr id="78" name="Google Shape;78;p17"/>
          <p:cNvSpPr txBox="1"/>
          <p:nvPr>
            <p:ph idx="1" type="body"/>
          </p:nvPr>
        </p:nvSpPr>
        <p:spPr>
          <a:xfrm>
            <a:off x="250600" y="686475"/>
            <a:ext cx="8520600" cy="38826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70000" lnSpcReduction="10000"/>
          </a:bodyPr>
          <a:lstStyle/>
          <a:p>
            <a:pPr indent="0" lvl="0" marL="0" rtl="0" algn="l">
              <a:spcBef>
                <a:spcPts val="1200"/>
              </a:spcBef>
              <a:spcAft>
                <a:spcPts val="0"/>
              </a:spcAft>
              <a:buNone/>
            </a:pPr>
            <a:r>
              <a:rPr lang="en" sz="2101">
                <a:solidFill>
                  <a:schemeClr val="dk1"/>
                </a:solidFill>
              </a:rPr>
              <a:t>Northwind Traders is a fictional specialty food import/export company widely used as a training dataset for learning business analytics. it captures the entire business cycle from suppliers providing products, to customers placing orders, employees processing those orders, and shippers delivering them,the data exists across multiple tables and systems.</a:t>
            </a:r>
            <a:endParaRPr sz="2101">
              <a:solidFill>
                <a:schemeClr val="dk1"/>
              </a:solidFill>
            </a:endParaRPr>
          </a:p>
          <a:p>
            <a:pPr indent="0" lvl="0" marL="0" rtl="0" algn="l">
              <a:spcBef>
                <a:spcPts val="1200"/>
              </a:spcBef>
              <a:spcAft>
                <a:spcPts val="0"/>
              </a:spcAft>
              <a:buNone/>
            </a:pPr>
            <a:r>
              <a:rPr lang="en" sz="2101">
                <a:solidFill>
                  <a:schemeClr val="dk1"/>
                </a:solidFill>
              </a:rPr>
              <a:t>Because of this, it can be challenging for managers or stakeholders to quickly see how the business is performing, identify which customers or products are most important, or monitor employee and delivery performance. Without a clear,  view of the business, making timely and informed decisions becomes difficult, slowing down responses to issues and opportunities.</a:t>
            </a:r>
            <a:endParaRPr sz="2101">
              <a:solidFill>
                <a:schemeClr val="dk1"/>
              </a:solidFill>
            </a:endParaRPr>
          </a:p>
          <a:p>
            <a:pPr indent="0" lvl="0" marL="0" rtl="0" algn="l">
              <a:spcBef>
                <a:spcPts val="1200"/>
              </a:spcBef>
              <a:spcAft>
                <a:spcPts val="0"/>
              </a:spcAft>
              <a:buClr>
                <a:schemeClr val="dk1"/>
              </a:buClr>
              <a:buSzPct val="52344"/>
              <a:buFont typeface="Arial"/>
              <a:buNone/>
            </a:pPr>
            <a:r>
              <a:rPr lang="en" sz="2101">
                <a:solidFill>
                  <a:schemeClr val="dk1"/>
                </a:solidFill>
              </a:rPr>
              <a:t>As a result, important decisions often take longer than they should and may not always be based on a complete picture of the business.</a:t>
            </a:r>
            <a:endParaRPr sz="2101">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ct val="84615"/>
              <a:buFont typeface="Arial"/>
              <a:buNone/>
            </a:pPr>
            <a:r>
              <a:t/>
            </a:r>
            <a:endParaRPr sz="1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170025"/>
            <a:ext cx="8520600" cy="572700"/>
          </a:xfrm>
          <a:prstGeom prst="rect">
            <a:avLst/>
          </a:prstGeom>
          <a:solidFill>
            <a:srgbClr val="2C5C7B"/>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                             </a:t>
            </a:r>
            <a:r>
              <a:rPr b="1" lang="en">
                <a:solidFill>
                  <a:schemeClr val="lt1"/>
                </a:solidFill>
              </a:rPr>
              <a:t>PROJECT OBJECTIVES</a:t>
            </a:r>
            <a:endParaRPr b="1">
              <a:solidFill>
                <a:schemeClr val="lt1"/>
              </a:solidFill>
            </a:endParaRPr>
          </a:p>
        </p:txBody>
      </p:sp>
      <p:sp>
        <p:nvSpPr>
          <p:cNvPr id="84" name="Google Shape;84;p18"/>
          <p:cNvSpPr txBox="1"/>
          <p:nvPr>
            <p:ph idx="1" type="body"/>
          </p:nvPr>
        </p:nvSpPr>
        <p:spPr>
          <a:xfrm>
            <a:off x="311700" y="742725"/>
            <a:ext cx="8520600" cy="39519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lang="en" sz="1100">
                <a:solidFill>
                  <a:schemeClr val="dk1"/>
                </a:solidFill>
              </a:rPr>
              <a:t>T</a:t>
            </a:r>
            <a:r>
              <a:rPr lang="en" sz="2087">
                <a:solidFill>
                  <a:schemeClr val="dk1"/>
                </a:solidFill>
              </a:rPr>
              <a:t>he objective of this project is to build an interactive business intelligence solution for Northwind Traders that transforms its scattered data into a unified, easy-to-understand dashboard system.</a:t>
            </a:r>
            <a:endParaRPr sz="2087">
              <a:solidFill>
                <a:schemeClr val="dk1"/>
              </a:solidFill>
            </a:endParaRPr>
          </a:p>
          <a:p>
            <a:pPr indent="0" lvl="0" marL="0" rtl="0" algn="l">
              <a:spcBef>
                <a:spcPts val="1200"/>
              </a:spcBef>
              <a:spcAft>
                <a:spcPts val="0"/>
              </a:spcAft>
              <a:buNone/>
            </a:pPr>
            <a:r>
              <a:rPr lang="en" sz="2087">
                <a:solidFill>
                  <a:schemeClr val="dk1"/>
                </a:solidFill>
              </a:rPr>
              <a:t>The solution aims to:</a:t>
            </a:r>
            <a:endParaRPr sz="2087">
              <a:solidFill>
                <a:schemeClr val="dk1"/>
              </a:solidFill>
            </a:endParaRPr>
          </a:p>
          <a:p>
            <a:pPr indent="-311415" lvl="0" marL="457200" rtl="0" algn="l">
              <a:spcBef>
                <a:spcPts val="1200"/>
              </a:spcBef>
              <a:spcAft>
                <a:spcPts val="0"/>
              </a:spcAft>
              <a:buClr>
                <a:schemeClr val="dk1"/>
              </a:buClr>
              <a:buSzPct val="100000"/>
              <a:buChar char="●"/>
            </a:pPr>
            <a:r>
              <a:rPr lang="en" sz="2087">
                <a:solidFill>
                  <a:schemeClr val="dk1"/>
                </a:solidFill>
              </a:rPr>
              <a:t>Provide a clear overview of overall business performance across sales, customers, products, and operations</a:t>
            </a:r>
            <a:endParaRPr sz="2087">
              <a:solidFill>
                <a:schemeClr val="dk1"/>
              </a:solidFill>
            </a:endParaRPr>
          </a:p>
          <a:p>
            <a:pPr indent="-311415" lvl="0" marL="457200" rtl="0" algn="l">
              <a:spcBef>
                <a:spcPts val="0"/>
              </a:spcBef>
              <a:spcAft>
                <a:spcPts val="0"/>
              </a:spcAft>
              <a:buClr>
                <a:schemeClr val="dk1"/>
              </a:buClr>
              <a:buSzPct val="100000"/>
              <a:buChar char="●"/>
            </a:pPr>
            <a:r>
              <a:rPr lang="en" sz="2087">
                <a:solidFill>
                  <a:schemeClr val="dk1"/>
                </a:solidFill>
              </a:rPr>
              <a:t>Identify key trends such as best-selling products, top customers, and high-performing employees</a:t>
            </a:r>
            <a:endParaRPr sz="2087">
              <a:solidFill>
                <a:schemeClr val="dk1"/>
              </a:solidFill>
            </a:endParaRPr>
          </a:p>
          <a:p>
            <a:pPr indent="-311415" lvl="0" marL="457200" rtl="0" algn="l">
              <a:spcBef>
                <a:spcPts val="0"/>
              </a:spcBef>
              <a:spcAft>
                <a:spcPts val="0"/>
              </a:spcAft>
              <a:buClr>
                <a:schemeClr val="dk1"/>
              </a:buClr>
              <a:buSzPct val="100000"/>
              <a:buChar char="●"/>
            </a:pPr>
            <a:r>
              <a:rPr lang="en" sz="2087">
                <a:solidFill>
                  <a:schemeClr val="dk1"/>
                </a:solidFill>
              </a:rPr>
              <a:t>Monitor logistics and delivery efficiency to ensure operational excellence</a:t>
            </a:r>
            <a:endParaRPr sz="2087">
              <a:solidFill>
                <a:schemeClr val="dk1"/>
              </a:solidFill>
            </a:endParaRPr>
          </a:p>
          <a:p>
            <a:pPr indent="-311415" lvl="0" marL="457200" rtl="0" algn="l">
              <a:spcBef>
                <a:spcPts val="0"/>
              </a:spcBef>
              <a:spcAft>
                <a:spcPts val="0"/>
              </a:spcAft>
              <a:buClr>
                <a:schemeClr val="dk1"/>
              </a:buClr>
              <a:buSzPct val="100000"/>
              <a:buChar char="●"/>
            </a:pPr>
            <a:r>
              <a:rPr lang="en" sz="2087">
                <a:solidFill>
                  <a:schemeClr val="dk1"/>
                </a:solidFill>
              </a:rPr>
              <a:t>Enable decision-makers to take faster, more informed actions based on visual insights rather than raw data</a:t>
            </a:r>
            <a:endParaRPr sz="2087">
              <a:solidFill>
                <a:schemeClr val="dk1"/>
              </a:solidFill>
            </a:endParaRPr>
          </a:p>
          <a:p>
            <a:pPr indent="-311415" lvl="0" marL="457200" rtl="0" algn="l">
              <a:spcBef>
                <a:spcPts val="0"/>
              </a:spcBef>
              <a:spcAft>
                <a:spcPts val="0"/>
              </a:spcAft>
              <a:buClr>
                <a:schemeClr val="dk1"/>
              </a:buClr>
              <a:buSzPct val="100000"/>
              <a:buChar char="●"/>
            </a:pPr>
            <a:r>
              <a:rPr lang="en" sz="2087">
                <a:solidFill>
                  <a:schemeClr val="dk1"/>
                </a:solidFill>
              </a:rPr>
              <a:t>Demonstrate the practical application of business intelligence tools in analyzing a complete retail and supply chain dataset</a:t>
            </a:r>
            <a:endParaRPr sz="2087">
              <a:solidFill>
                <a:schemeClr val="dk1"/>
              </a:solidFill>
            </a:endParaRPr>
          </a:p>
          <a:p>
            <a:pPr indent="0" lvl="0" marL="0" rtl="0" algn="l">
              <a:spcBef>
                <a:spcPts val="1200"/>
              </a:spcBef>
              <a:spcAft>
                <a:spcPts val="0"/>
              </a:spcAft>
              <a:buNone/>
            </a:pPr>
            <a:r>
              <a:rPr b="1" lang="en" sz="2087">
                <a:solidFill>
                  <a:schemeClr val="dk1"/>
                </a:solidFill>
              </a:rPr>
              <a:t>RESULT:</a:t>
            </a:r>
            <a:br>
              <a:rPr b="1" lang="en" sz="2087">
                <a:solidFill>
                  <a:schemeClr val="dk1"/>
                </a:solidFill>
              </a:rPr>
            </a:br>
            <a:r>
              <a:rPr lang="en" sz="2087">
                <a:solidFill>
                  <a:schemeClr val="dk1"/>
                </a:solidFill>
              </a:rPr>
              <a:t> A set of dashboards that allows Northwind Traders  to easily track performance, spot opportunities, and make strategic business decisions.</a:t>
            </a:r>
            <a:endParaRPr sz="2087">
              <a:solidFill>
                <a:schemeClr val="dk1"/>
              </a:solidFill>
            </a:endParaRPr>
          </a:p>
          <a:p>
            <a:pPr indent="0" lvl="0" marL="0" rtl="0" algn="l">
              <a:spcBef>
                <a:spcPts val="1200"/>
              </a:spcBef>
              <a:spcAft>
                <a:spcPts val="0"/>
              </a:spcAft>
              <a:buNone/>
            </a:pPr>
            <a:r>
              <a:t/>
            </a:r>
            <a:endParaRPr sz="2087">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1200"/>
              </a:spcAft>
              <a:buClr>
                <a:schemeClr val="dk1"/>
              </a:buClr>
              <a:buSzPct val="100000"/>
              <a:buFont typeface="Arial"/>
              <a:buNone/>
            </a:pPr>
            <a:r>
              <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a:solidFill>
            <a:srgbClr val="2C5C7B"/>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b="1" lang="en" sz="2467">
                <a:solidFill>
                  <a:schemeClr val="lt1"/>
                </a:solidFill>
              </a:rPr>
              <a:t>PROJECT APPROACH</a:t>
            </a:r>
            <a:endParaRPr b="1" sz="2467">
              <a:solidFill>
                <a:schemeClr val="lt1"/>
              </a:solidFill>
            </a:endParaRPr>
          </a:p>
        </p:txBody>
      </p:sp>
      <p:sp>
        <p:nvSpPr>
          <p:cNvPr id="90" name="Google Shape;90;p19"/>
          <p:cNvSpPr txBox="1"/>
          <p:nvPr>
            <p:ph idx="1" type="body"/>
          </p:nvPr>
        </p:nvSpPr>
        <p:spPr>
          <a:xfrm>
            <a:off x="311700" y="1060375"/>
            <a:ext cx="8520600" cy="35511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t/>
            </a:r>
            <a:endParaRPr b="1" sz="1300">
              <a:solidFill>
                <a:schemeClr val="dk1"/>
              </a:solidFill>
            </a:endParaRPr>
          </a:p>
          <a:p>
            <a:pPr indent="-323850" lvl="0" marL="457200" rtl="0" algn="l">
              <a:spcBef>
                <a:spcPts val="1200"/>
              </a:spcBef>
              <a:spcAft>
                <a:spcPts val="0"/>
              </a:spcAft>
              <a:buClr>
                <a:schemeClr val="dk1"/>
              </a:buClr>
              <a:buSzPts val="1500"/>
              <a:buAutoNum type="arabicPeriod"/>
            </a:pPr>
            <a:r>
              <a:rPr lang="en" sz="1500">
                <a:solidFill>
                  <a:schemeClr val="dk1"/>
                </a:solidFill>
              </a:rPr>
              <a:t>Data Cleaning (Power Query)</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Data Modeling</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DAX Measure Creation</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Dashboard Development</a:t>
            </a:r>
            <a:endParaRPr sz="1500">
              <a:solidFill>
                <a:schemeClr val="dk1"/>
              </a:solidFill>
            </a:endParaRPr>
          </a:p>
          <a:p>
            <a:pPr indent="-323850" lvl="0" marL="457200" rtl="0" algn="l">
              <a:spcBef>
                <a:spcPts val="0"/>
              </a:spcBef>
              <a:spcAft>
                <a:spcPts val="0"/>
              </a:spcAft>
              <a:buClr>
                <a:schemeClr val="dk1"/>
              </a:buClr>
              <a:buSzPts val="1500"/>
              <a:buAutoNum type="arabicPeriod"/>
            </a:pPr>
            <a:r>
              <a:rPr lang="en" sz="1500">
                <a:solidFill>
                  <a:schemeClr val="dk1"/>
                </a:solidFill>
              </a:rPr>
              <a:t>Business Analysis</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215925" y="129300"/>
            <a:ext cx="8775900" cy="461700"/>
          </a:xfrm>
          <a:prstGeom prst="rect">
            <a:avLst/>
          </a:prstGeom>
          <a:solidFill>
            <a:srgbClr val="2C5C7B"/>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800">
                <a:solidFill>
                  <a:schemeClr val="dk2"/>
                </a:solidFill>
              </a:rPr>
              <a:t>                                                </a:t>
            </a:r>
            <a:r>
              <a:rPr lang="en" sz="1800">
                <a:solidFill>
                  <a:schemeClr val="lt1"/>
                </a:solidFill>
              </a:rPr>
              <a:t> </a:t>
            </a:r>
            <a:r>
              <a:rPr b="1" lang="en" sz="2456">
                <a:solidFill>
                  <a:schemeClr val="lt1"/>
                </a:solidFill>
              </a:rPr>
              <a:t> DATA CLEANING</a:t>
            </a:r>
            <a:endParaRPr b="1" sz="3456">
              <a:solidFill>
                <a:schemeClr val="lt1"/>
              </a:solidFill>
            </a:endParaRPr>
          </a:p>
        </p:txBody>
      </p:sp>
      <p:sp>
        <p:nvSpPr>
          <p:cNvPr id="96" name="Google Shape;96;p20"/>
          <p:cNvSpPr txBox="1"/>
          <p:nvPr>
            <p:ph idx="1" type="body"/>
          </p:nvPr>
        </p:nvSpPr>
        <p:spPr>
          <a:xfrm>
            <a:off x="215925" y="584850"/>
            <a:ext cx="3839700" cy="43080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95000"/>
              </a:lnSpc>
              <a:spcBef>
                <a:spcPts val="1200"/>
              </a:spcBef>
              <a:spcAft>
                <a:spcPts val="0"/>
              </a:spcAft>
              <a:buSzPts val="935"/>
              <a:buNone/>
            </a:pPr>
            <a:r>
              <a:rPr lang="en" sz="1230">
                <a:solidFill>
                  <a:schemeClr val="dk1"/>
                </a:solidFill>
              </a:rPr>
              <a:t>The raw data was cleaned and prepared using Power Query to ensure accuracy and consistency across all datasets. </a:t>
            </a:r>
            <a:endParaRPr sz="1230">
              <a:solidFill>
                <a:schemeClr val="dk1"/>
              </a:solidFill>
            </a:endParaRPr>
          </a:p>
          <a:p>
            <a:pPr indent="0" lvl="0" marL="0" rtl="0" algn="l">
              <a:lnSpc>
                <a:spcPct val="95000"/>
              </a:lnSpc>
              <a:spcBef>
                <a:spcPts val="1200"/>
              </a:spcBef>
              <a:spcAft>
                <a:spcPts val="0"/>
              </a:spcAft>
              <a:buClr>
                <a:schemeClr val="dk1"/>
              </a:buClr>
              <a:buSzPts val="935"/>
              <a:buFont typeface="Arial"/>
              <a:buNone/>
            </a:pPr>
            <a:r>
              <a:rPr lang="en" sz="1230">
                <a:solidFill>
                  <a:schemeClr val="dk1"/>
                </a:solidFill>
              </a:rPr>
              <a:t>The process involved removing duplicate records, handling missing or null values, and correcting data types such as dates, numbers, and text fields. Irrelevant columns that were not required for analysis were removed to improve performance and clarity. In addition, tables were standardized and transformed to ensure proper relationships between customers, orders, products, employees, and shipping data. This step ensured the data was reliable and ready for analysis in Power BI.</a:t>
            </a:r>
            <a:endParaRPr sz="1230">
              <a:solidFill>
                <a:schemeClr val="dk1"/>
              </a:solidFill>
            </a:endParaRPr>
          </a:p>
          <a:p>
            <a:pPr indent="0" lvl="0" marL="0" rtl="0" algn="l">
              <a:lnSpc>
                <a:spcPct val="95000"/>
              </a:lnSpc>
              <a:spcBef>
                <a:spcPts val="1200"/>
              </a:spcBef>
              <a:spcAft>
                <a:spcPts val="1200"/>
              </a:spcAft>
              <a:buSzPts val="935"/>
              <a:buNone/>
            </a:pPr>
            <a:r>
              <a:t/>
            </a:r>
            <a:endParaRPr sz="1530"/>
          </a:p>
        </p:txBody>
      </p:sp>
      <p:sp>
        <p:nvSpPr>
          <p:cNvPr id="97" name="Google Shape;97;p20"/>
          <p:cNvSpPr txBox="1"/>
          <p:nvPr/>
        </p:nvSpPr>
        <p:spPr>
          <a:xfrm>
            <a:off x="4992750" y="747600"/>
            <a:ext cx="4173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98" name="Google Shape;98;p20" title="Power Query.PNG"/>
          <p:cNvPicPr preferRelativeResize="0"/>
          <p:nvPr/>
        </p:nvPicPr>
        <p:blipFill>
          <a:blip r:embed="rId3">
            <a:alphaModFix/>
          </a:blip>
          <a:stretch>
            <a:fillRect/>
          </a:stretch>
        </p:blipFill>
        <p:spPr>
          <a:xfrm>
            <a:off x="4102215" y="594825"/>
            <a:ext cx="4889385" cy="4307999"/>
          </a:xfrm>
          <a:prstGeom prst="rect">
            <a:avLst/>
          </a:prstGeom>
          <a:noFill/>
          <a:ln cap="flat" cmpd="sng" w="38100">
            <a:solidFill>
              <a:schemeClr val="dk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850" y="105925"/>
            <a:ext cx="8642700" cy="407400"/>
          </a:xfrm>
          <a:prstGeom prst="rect">
            <a:avLst/>
          </a:prstGeom>
          <a:solidFill>
            <a:srgbClr val="2C5C7B"/>
          </a:solidFill>
          <a:ln cap="flat" cmpd="sng" w="76200">
            <a:solidFill>
              <a:srgbClr val="2C5C7B"/>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lnSpc>
                <a:spcPct val="115000"/>
              </a:lnSpc>
              <a:spcBef>
                <a:spcPts val="1800"/>
              </a:spcBef>
              <a:spcAft>
                <a:spcPts val="400"/>
              </a:spcAft>
              <a:buClr>
                <a:schemeClr val="dk1"/>
              </a:buClr>
              <a:buSzPct val="64706"/>
              <a:buFont typeface="Arial"/>
              <a:buNone/>
            </a:pPr>
            <a:r>
              <a:rPr b="1" lang="en" sz="1700"/>
              <a:t>                                                                   </a:t>
            </a:r>
            <a:r>
              <a:rPr b="1" lang="en" sz="1700">
                <a:solidFill>
                  <a:schemeClr val="lt1"/>
                </a:solidFill>
              </a:rPr>
              <a:t> </a:t>
            </a:r>
            <a:r>
              <a:rPr b="1" lang="en" sz="2367">
                <a:solidFill>
                  <a:schemeClr val="lt1"/>
                </a:solidFill>
              </a:rPr>
              <a:t>DATA MODEL</a:t>
            </a:r>
            <a:endParaRPr sz="3467">
              <a:solidFill>
                <a:schemeClr val="lt1"/>
              </a:solidFill>
            </a:endParaRPr>
          </a:p>
        </p:txBody>
      </p:sp>
      <p:sp>
        <p:nvSpPr>
          <p:cNvPr id="104" name="Google Shape;104;p21"/>
          <p:cNvSpPr txBox="1"/>
          <p:nvPr>
            <p:ph idx="1" type="body"/>
          </p:nvPr>
        </p:nvSpPr>
        <p:spPr>
          <a:xfrm>
            <a:off x="311700" y="554075"/>
            <a:ext cx="8642700" cy="44451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t/>
            </a:r>
            <a:endParaRPr b="1" sz="1700">
              <a:solidFill>
                <a:schemeClr val="dk1"/>
              </a:solidFill>
            </a:endParaRPr>
          </a:p>
          <a:p>
            <a:pPr indent="0" lvl="0" marL="0" rtl="0" algn="l">
              <a:spcBef>
                <a:spcPts val="1400"/>
              </a:spcBef>
              <a:spcAft>
                <a:spcPts val="0"/>
              </a:spcAft>
              <a:buClr>
                <a:schemeClr val="dk1"/>
              </a:buClr>
              <a:buSzPts val="1100"/>
              <a:buFont typeface="Arial"/>
              <a:buNone/>
            </a:pPr>
            <a:r>
              <a:rPr b="1" lang="en" sz="1300">
                <a:solidFill>
                  <a:schemeClr val="dk1"/>
                </a:solidFill>
              </a:rPr>
              <a:t> Data Sources</a:t>
            </a:r>
            <a:endParaRPr b="1" sz="1300">
              <a:solidFill>
                <a:schemeClr val="dk1"/>
              </a:solidFill>
            </a:endParaRPr>
          </a:p>
          <a:p>
            <a:pPr indent="-298450" lvl="0" marL="457200" rtl="0" algn="l">
              <a:spcBef>
                <a:spcPts val="1200"/>
              </a:spcBef>
              <a:spcAft>
                <a:spcPts val="0"/>
              </a:spcAft>
              <a:buClr>
                <a:schemeClr val="dk1"/>
              </a:buClr>
              <a:buSzPts val="1100"/>
              <a:buChar char="●"/>
            </a:pPr>
            <a:r>
              <a:rPr lang="en" sz="1100">
                <a:solidFill>
                  <a:schemeClr val="dk1"/>
                </a:solidFill>
              </a:rPr>
              <a:t>Orders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Order Details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Customers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Products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Employees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Shippers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Date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Dax Me</a:t>
            </a:r>
            <a:r>
              <a:rPr lang="en" sz="1100">
                <a:solidFill>
                  <a:schemeClr val="dk1"/>
                </a:solidFill>
              </a:rPr>
              <a:t>asures</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pic>
        <p:nvPicPr>
          <p:cNvPr id="105" name="Google Shape;105;p21" title="Model.PNG"/>
          <p:cNvPicPr preferRelativeResize="0"/>
          <p:nvPr/>
        </p:nvPicPr>
        <p:blipFill>
          <a:blip r:embed="rId3">
            <a:alphaModFix/>
          </a:blip>
          <a:stretch>
            <a:fillRect/>
          </a:stretch>
        </p:blipFill>
        <p:spPr>
          <a:xfrm>
            <a:off x="2169850" y="554075"/>
            <a:ext cx="6784699" cy="4445101"/>
          </a:xfrm>
          <a:prstGeom prst="rect">
            <a:avLst/>
          </a:prstGeom>
          <a:noFill/>
          <a:ln cap="flat" cmpd="sng" w="38100">
            <a:solidFill>
              <a:srgbClr val="2C5C7B"/>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42450" y="180225"/>
            <a:ext cx="8520600" cy="572700"/>
          </a:xfrm>
          <a:prstGeom prst="rect">
            <a:avLst/>
          </a:prstGeom>
          <a:solidFill>
            <a:srgbClr val="2C5C7B"/>
          </a:solidFill>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solidFill>
                  <a:schemeClr val="lt1"/>
                </a:solidFill>
              </a:rPr>
              <a:t>     </a:t>
            </a:r>
            <a:r>
              <a:rPr b="1" lang="en">
                <a:solidFill>
                  <a:schemeClr val="lt1"/>
                </a:solidFill>
              </a:rPr>
              <a:t>DAX MEASURES(Data Analysis Expressions)</a:t>
            </a:r>
            <a:endParaRPr b="1">
              <a:solidFill>
                <a:schemeClr val="lt1"/>
              </a:solidFill>
            </a:endParaRPr>
          </a:p>
        </p:txBody>
      </p:sp>
      <p:sp>
        <p:nvSpPr>
          <p:cNvPr id="111" name="Google Shape;111;p22"/>
          <p:cNvSpPr txBox="1"/>
          <p:nvPr>
            <p:ph idx="1" type="body"/>
          </p:nvPr>
        </p:nvSpPr>
        <p:spPr>
          <a:xfrm>
            <a:off x="373200" y="752925"/>
            <a:ext cx="8520600" cy="44457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 sz="1700">
                <a:solidFill>
                  <a:schemeClr val="dk1"/>
                </a:solidFill>
              </a:rPr>
              <a:t>DAX Measures </a:t>
            </a:r>
            <a:endParaRPr b="1" sz="1700">
              <a:solidFill>
                <a:schemeClr val="dk1"/>
              </a:solidFill>
            </a:endParaRPr>
          </a:p>
          <a:p>
            <a:pPr indent="-311150" lvl="0" marL="457200" rtl="0" algn="l">
              <a:spcBef>
                <a:spcPts val="1200"/>
              </a:spcBef>
              <a:spcAft>
                <a:spcPts val="0"/>
              </a:spcAft>
              <a:buClr>
                <a:schemeClr val="dk1"/>
              </a:buClr>
              <a:buSzPts val="1300"/>
              <a:buChar char="●"/>
            </a:pPr>
            <a:r>
              <a:rPr lang="en" sz="1300">
                <a:solidFill>
                  <a:schemeClr val="dk1"/>
                </a:solidFill>
              </a:rPr>
              <a:t>Created to calculate key business metrics like total revenue, orders, and average order value.</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Built to work dynamically with filters and user interactions in the dashboards.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Enables real-time analysis of trends, comparisons, and performance insights.</a:t>
            </a:r>
            <a:endParaRPr sz="1300">
              <a:solidFill>
                <a:schemeClr val="dk1"/>
              </a:solidFill>
            </a:endParaRPr>
          </a:p>
          <a:p>
            <a:pPr indent="-311150" lvl="0" marL="457200" rtl="0" algn="l">
              <a:spcBef>
                <a:spcPts val="0"/>
              </a:spcBef>
              <a:spcAft>
                <a:spcPts val="0"/>
              </a:spcAft>
              <a:buClr>
                <a:schemeClr val="dk1"/>
              </a:buClr>
              <a:buSzPts val="1300"/>
              <a:buChar char="●"/>
            </a:pPr>
            <a:r>
              <a:rPr lang="en" sz="1300">
                <a:solidFill>
                  <a:schemeClr val="dk1"/>
                </a:solidFill>
              </a:rPr>
              <a:t>Ensures accurate, actionable information for decision-making.</a:t>
            </a:r>
            <a:endParaRPr sz="1300">
              <a:solidFill>
                <a:schemeClr val="dk1"/>
              </a:solidFill>
            </a:endParaRPr>
          </a:p>
          <a:p>
            <a:pPr indent="0" lvl="0" marL="0" rtl="0" algn="l">
              <a:spcBef>
                <a:spcPts val="1200"/>
              </a:spcBef>
              <a:spcAft>
                <a:spcPts val="1200"/>
              </a:spcAft>
              <a:buNone/>
            </a:pPr>
            <a:r>
              <a:t/>
            </a:r>
            <a:endParaRPr/>
          </a:p>
        </p:txBody>
      </p:sp>
      <p:pic>
        <p:nvPicPr>
          <p:cNvPr id="112" name="Google Shape;112;p22" title="Dax Measures.PNG"/>
          <p:cNvPicPr preferRelativeResize="0"/>
          <p:nvPr/>
        </p:nvPicPr>
        <p:blipFill rotWithShape="1">
          <a:blip r:embed="rId3">
            <a:alphaModFix/>
          </a:blip>
          <a:srcRect b="62845" l="-3413" r="0" t="0"/>
          <a:stretch/>
        </p:blipFill>
        <p:spPr>
          <a:xfrm>
            <a:off x="7111825" y="854200"/>
            <a:ext cx="1751225" cy="40129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105925"/>
            <a:ext cx="8520600" cy="911700"/>
          </a:xfrm>
          <a:prstGeom prst="rect">
            <a:avLst/>
          </a:prstGeom>
          <a:solidFill>
            <a:srgbClr val="2C5C7B"/>
          </a:solidFill>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b="1" lang="en">
                <a:solidFill>
                  <a:schemeClr val="lt1"/>
                </a:solidFill>
              </a:rPr>
              <a:t>DASHBOARDS</a:t>
            </a:r>
            <a:endParaRPr b="1">
              <a:solidFill>
                <a:schemeClr val="lt1"/>
              </a:solidFill>
            </a:endParaRPr>
          </a:p>
        </p:txBody>
      </p:sp>
      <p:sp>
        <p:nvSpPr>
          <p:cNvPr id="118" name="Google Shape;118;p23"/>
          <p:cNvSpPr txBox="1"/>
          <p:nvPr>
            <p:ph idx="1" type="body"/>
          </p:nvPr>
        </p:nvSpPr>
        <p:spPr>
          <a:xfrm>
            <a:off x="311700" y="1017625"/>
            <a:ext cx="8520600" cy="3773400"/>
          </a:xfrm>
          <a:prstGeom prst="rect">
            <a:avLst/>
          </a:prstGeom>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lang="en" sz="1400">
                <a:solidFill>
                  <a:schemeClr val="dk1"/>
                </a:solidFill>
              </a:rPr>
              <a:t>Dashboards were built in Power BI to provide clear, interactive insights for decision-making. Data from Northwind database was connected and modeled, key metrics were visualized using charts and KPI cards, and interactive filters were added. The result is an easy to use set of dashboards that lets users quickly explore business performance and make data based informed decisions.</a:t>
            </a:r>
            <a:r>
              <a:rPr b="1" lang="en" sz="1400">
                <a:solidFill>
                  <a:schemeClr val="dk1"/>
                </a:solidFill>
              </a:rPr>
              <a:t> </a:t>
            </a:r>
            <a:endParaRPr b="1" sz="1400">
              <a:solidFill>
                <a:schemeClr val="dk1"/>
              </a:solidFill>
            </a:endParaRPr>
          </a:p>
          <a:p>
            <a:pPr indent="0" lvl="0" marL="0" rtl="0" algn="l">
              <a:spcBef>
                <a:spcPts val="1200"/>
              </a:spcBef>
              <a:spcAft>
                <a:spcPts val="0"/>
              </a:spcAft>
              <a:buClr>
                <a:schemeClr val="dk1"/>
              </a:buClr>
              <a:buSzPts val="1100"/>
              <a:buFont typeface="Arial"/>
              <a:buNone/>
            </a:pPr>
            <a:r>
              <a:rPr b="1" lang="en" sz="1200">
                <a:solidFill>
                  <a:schemeClr val="dk1"/>
                </a:solidFill>
              </a:rPr>
              <a:t>Sales Executives Overview</a:t>
            </a:r>
            <a:br>
              <a:rPr lang="en" sz="1200">
                <a:solidFill>
                  <a:schemeClr val="dk1"/>
                </a:solidFill>
              </a:rPr>
            </a:br>
            <a:r>
              <a:rPr b="1" lang="en" sz="1200">
                <a:solidFill>
                  <a:schemeClr val="dk1"/>
                </a:solidFill>
              </a:rPr>
              <a:t> </a:t>
            </a:r>
            <a:r>
              <a:rPr b="1" lang="en" sz="1200">
                <a:solidFill>
                  <a:srgbClr val="4C1130"/>
                </a:solidFill>
              </a:rPr>
              <a:t>↓</a:t>
            </a:r>
            <a:br>
              <a:rPr lang="en" sz="1200">
                <a:solidFill>
                  <a:schemeClr val="dk1"/>
                </a:solidFill>
              </a:rPr>
            </a:br>
            <a:r>
              <a:rPr b="1" lang="en" sz="1200">
                <a:solidFill>
                  <a:schemeClr val="dk1"/>
                </a:solidFill>
              </a:rPr>
              <a:t> Customer &amp; Sales Representative  Performance</a:t>
            </a:r>
            <a:br>
              <a:rPr lang="en" sz="1200">
                <a:solidFill>
                  <a:schemeClr val="dk1"/>
                </a:solidFill>
              </a:rPr>
            </a:br>
            <a:r>
              <a:rPr lang="en" sz="1200">
                <a:solidFill>
                  <a:schemeClr val="dk1"/>
                </a:solidFill>
              </a:rPr>
              <a:t> ↓</a:t>
            </a:r>
            <a:br>
              <a:rPr lang="en" sz="1200">
                <a:solidFill>
                  <a:schemeClr val="dk1"/>
                </a:solidFill>
              </a:rPr>
            </a:br>
            <a:r>
              <a:rPr lang="en" sz="1200">
                <a:solidFill>
                  <a:schemeClr val="dk1"/>
                </a:solidFill>
              </a:rPr>
              <a:t> </a:t>
            </a:r>
            <a:r>
              <a:rPr b="1" lang="en" sz="1200">
                <a:solidFill>
                  <a:schemeClr val="dk1"/>
                </a:solidFill>
              </a:rPr>
              <a:t>Products &amp; Inventory Analysis</a:t>
            </a:r>
            <a:br>
              <a:rPr lang="en" sz="1200">
                <a:solidFill>
                  <a:schemeClr val="dk1"/>
                </a:solidFill>
              </a:rPr>
            </a:br>
            <a:r>
              <a:rPr lang="en" sz="1200">
                <a:solidFill>
                  <a:schemeClr val="dk1"/>
                </a:solidFill>
              </a:rPr>
              <a:t> ↓</a:t>
            </a:r>
            <a:br>
              <a:rPr lang="en" sz="1200">
                <a:solidFill>
                  <a:schemeClr val="dk1"/>
                </a:solidFill>
              </a:rPr>
            </a:br>
            <a:r>
              <a:rPr b="1" lang="en" sz="1200">
                <a:solidFill>
                  <a:schemeClr val="dk1"/>
                </a:solidFill>
              </a:rPr>
              <a:t> Operations &amp; Logistics Analysis</a:t>
            </a:r>
            <a:endParaRPr b="1" sz="12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195550" y="167025"/>
            <a:ext cx="8759100" cy="590700"/>
          </a:xfrm>
          <a:prstGeom prst="rect">
            <a:avLst/>
          </a:prstGeom>
          <a:solidFill>
            <a:srgbClr val="2C5C7B"/>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a:t>
            </a:r>
            <a:r>
              <a:rPr b="1" lang="en" sz="2689">
                <a:solidFill>
                  <a:schemeClr val="lt1"/>
                </a:solidFill>
              </a:rPr>
              <a:t>SALES EXECUTIVE OVERVIEW</a:t>
            </a:r>
            <a:endParaRPr b="1" sz="2689">
              <a:solidFill>
                <a:schemeClr val="lt1"/>
              </a:solidFill>
            </a:endParaRPr>
          </a:p>
        </p:txBody>
      </p:sp>
      <p:sp>
        <p:nvSpPr>
          <p:cNvPr id="124" name="Google Shape;124;p24"/>
          <p:cNvSpPr txBox="1"/>
          <p:nvPr>
            <p:ph idx="1" type="body"/>
          </p:nvPr>
        </p:nvSpPr>
        <p:spPr>
          <a:xfrm>
            <a:off x="195550" y="714925"/>
            <a:ext cx="2801100" cy="4320600"/>
          </a:xfrm>
          <a:prstGeom prst="rect">
            <a:avLst/>
          </a:prstGeom>
          <a:solidFill>
            <a:schemeClr val="lt1"/>
          </a:solidFill>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62500" lnSpcReduction="20000"/>
          </a:bodyPr>
          <a:lstStyle/>
          <a:p>
            <a:pPr indent="0" lvl="0" marL="0" rtl="0" algn="l">
              <a:spcBef>
                <a:spcPts val="1200"/>
              </a:spcBef>
              <a:spcAft>
                <a:spcPts val="0"/>
              </a:spcAft>
              <a:buNone/>
            </a:pPr>
            <a:r>
              <a:rPr b="1" lang="en" sz="1887">
                <a:solidFill>
                  <a:schemeClr val="dk1"/>
                </a:solidFill>
              </a:rPr>
              <a:t>KEY INSIGHT:</a:t>
            </a:r>
            <a:endParaRPr b="1" sz="1887">
              <a:solidFill>
                <a:schemeClr val="dk1"/>
              </a:solidFill>
            </a:endParaRPr>
          </a:p>
          <a:p>
            <a:pPr indent="0" lvl="0" marL="0" rtl="0" algn="l">
              <a:spcBef>
                <a:spcPts val="1200"/>
              </a:spcBef>
              <a:spcAft>
                <a:spcPts val="0"/>
              </a:spcAft>
              <a:buNone/>
            </a:pPr>
            <a:r>
              <a:rPr lang="en" sz="1887">
                <a:solidFill>
                  <a:schemeClr val="dk1"/>
                </a:solidFill>
              </a:rPr>
              <a:t>The Overall business performance is strong, with total revenue increase by 13.9% and orders up 20% compared to previous month.</a:t>
            </a:r>
            <a:endParaRPr sz="1887">
              <a:solidFill>
                <a:schemeClr val="dk1"/>
              </a:solidFill>
            </a:endParaRPr>
          </a:p>
          <a:p>
            <a:pPr indent="0" lvl="0" marL="0" rtl="0" algn="l">
              <a:spcBef>
                <a:spcPts val="1200"/>
              </a:spcBef>
              <a:spcAft>
                <a:spcPts val="0"/>
              </a:spcAft>
              <a:buNone/>
            </a:pPr>
            <a:r>
              <a:rPr lang="en" sz="1887">
                <a:solidFill>
                  <a:schemeClr val="dk1"/>
                </a:solidFill>
              </a:rPr>
              <a:t> However, the average order value has slightly decreased at 5% indicating customers are placing smaller orders. </a:t>
            </a:r>
            <a:endParaRPr sz="1887">
              <a:solidFill>
                <a:schemeClr val="dk1"/>
              </a:solidFill>
            </a:endParaRPr>
          </a:p>
          <a:p>
            <a:pPr indent="0" lvl="0" marL="0" rtl="0" algn="l">
              <a:spcBef>
                <a:spcPts val="1200"/>
              </a:spcBef>
              <a:spcAft>
                <a:spcPts val="0"/>
              </a:spcAft>
              <a:buNone/>
            </a:pPr>
            <a:r>
              <a:rPr lang="en" sz="1887">
                <a:solidFill>
                  <a:schemeClr val="dk1"/>
                </a:solidFill>
              </a:rPr>
              <a:t>Top 5 customers contribute nearly 69% of revenue, highlighting customer concentration. Management should focus on upselling, expanding </a:t>
            </a:r>
            <a:r>
              <a:rPr lang="en" sz="1887">
                <a:solidFill>
                  <a:schemeClr val="dk1"/>
                </a:solidFill>
              </a:rPr>
              <a:t>high value</a:t>
            </a:r>
            <a:r>
              <a:rPr lang="en" sz="1887">
                <a:solidFill>
                  <a:schemeClr val="dk1"/>
                </a:solidFill>
              </a:rPr>
              <a:t> customer relationships, and balancing revenue across more clients to sustain growth.</a:t>
            </a:r>
            <a:endParaRPr sz="1887">
              <a:solidFill>
                <a:schemeClr val="dk1"/>
              </a:solidFill>
            </a:endParaRPr>
          </a:p>
          <a:p>
            <a:pPr indent="0" lvl="0" marL="0" rtl="0" algn="l">
              <a:spcBef>
                <a:spcPts val="1800"/>
              </a:spcBef>
              <a:spcAft>
                <a:spcPts val="0"/>
              </a:spcAft>
              <a:buClr>
                <a:schemeClr val="dk1"/>
              </a:buClr>
              <a:buSzPct val="100000"/>
              <a:buFont typeface="Arial"/>
              <a:buNone/>
            </a:pPr>
            <a:r>
              <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400"/>
              </a:spcBef>
              <a:spcAft>
                <a:spcPts val="0"/>
              </a:spcAft>
              <a:buClr>
                <a:schemeClr val="dk1"/>
              </a:buClr>
              <a:buSzPct val="100000"/>
              <a:buFont typeface="Arial"/>
              <a:buNone/>
            </a:pPr>
            <a:r>
              <a:t/>
            </a:r>
            <a:endParaRPr sz="1100">
              <a:solidFill>
                <a:schemeClr val="dk1"/>
              </a:solidFill>
            </a:endParaRPr>
          </a:p>
          <a:p>
            <a:pPr indent="0" lvl="0" marL="0" rtl="0" algn="l">
              <a:spcBef>
                <a:spcPts val="400"/>
              </a:spcBef>
              <a:spcAft>
                <a:spcPts val="1200"/>
              </a:spcAft>
              <a:buNone/>
            </a:pPr>
            <a:r>
              <a:t/>
            </a:r>
            <a:endParaRPr/>
          </a:p>
        </p:txBody>
      </p:sp>
      <p:sp>
        <p:nvSpPr>
          <p:cNvPr id="125" name="Google Shape;125;p24"/>
          <p:cNvSpPr txBox="1"/>
          <p:nvPr/>
        </p:nvSpPr>
        <p:spPr>
          <a:xfrm>
            <a:off x="3454800" y="1104075"/>
            <a:ext cx="3939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26" name="Google Shape;126;p24"/>
          <p:cNvSpPr txBox="1"/>
          <p:nvPr/>
        </p:nvSpPr>
        <p:spPr>
          <a:xfrm>
            <a:off x="4799250" y="1155000"/>
            <a:ext cx="436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27" name="Google Shape;127;p24" title="Customer and Sales Rep Performance.PNG"/>
          <p:cNvPicPr preferRelativeResize="0"/>
          <p:nvPr/>
        </p:nvPicPr>
        <p:blipFill>
          <a:blip r:embed="rId3">
            <a:alphaModFix/>
          </a:blip>
          <a:stretch>
            <a:fillRect/>
          </a:stretch>
        </p:blipFill>
        <p:spPr>
          <a:xfrm>
            <a:off x="2996650" y="714925"/>
            <a:ext cx="5958126" cy="4320599"/>
          </a:xfrm>
          <a:prstGeom prst="rect">
            <a:avLst/>
          </a:prstGeom>
          <a:noFill/>
          <a:ln cap="flat" cmpd="sng" w="38100">
            <a:solidFill>
              <a:srgbClr val="2C5C7B"/>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5"/>
          <p:cNvSpPr txBox="1"/>
          <p:nvPr>
            <p:ph type="title"/>
          </p:nvPr>
        </p:nvSpPr>
        <p:spPr>
          <a:xfrm>
            <a:off x="-25" y="187425"/>
            <a:ext cx="9144000" cy="621300"/>
          </a:xfrm>
          <a:prstGeom prst="rect">
            <a:avLst/>
          </a:prstGeom>
          <a:solidFill>
            <a:srgbClr val="2C5C7B"/>
          </a:solidFill>
        </p:spPr>
        <p:txBody>
          <a:bodyPr anchorCtr="0" anchor="t" bIns="91425" lIns="91425" spcFirstLastPara="1" rIns="91425" wrap="square" tIns="91425">
            <a:normAutofit fontScale="90000"/>
          </a:bodyPr>
          <a:lstStyle/>
          <a:p>
            <a:pPr indent="0" lvl="0" marL="0" rtl="0" algn="l">
              <a:lnSpc>
                <a:spcPct val="115000"/>
              </a:lnSpc>
              <a:spcBef>
                <a:spcPts val="1200"/>
              </a:spcBef>
              <a:spcAft>
                <a:spcPts val="1200"/>
              </a:spcAft>
              <a:buClr>
                <a:schemeClr val="dk1"/>
              </a:buClr>
              <a:buSzPct val="57895"/>
              <a:buFont typeface="Arial"/>
              <a:buNone/>
            </a:pPr>
            <a:r>
              <a:rPr b="1" lang="en" sz="1900"/>
              <a:t> </a:t>
            </a:r>
            <a:r>
              <a:rPr b="1" lang="en" sz="2411">
                <a:solidFill>
                  <a:schemeClr val="lt1"/>
                </a:solidFill>
              </a:rPr>
              <a:t>CUSTOMER AND SALES REPRESENTATIVE PERFORMANCE</a:t>
            </a:r>
            <a:r>
              <a:rPr b="1" lang="en" sz="2111">
                <a:solidFill>
                  <a:schemeClr val="lt1"/>
                </a:solidFill>
              </a:rPr>
              <a:t> </a:t>
            </a:r>
            <a:endParaRPr b="1" sz="3811">
              <a:solidFill>
                <a:schemeClr val="lt1"/>
              </a:solidFill>
            </a:endParaRPr>
          </a:p>
        </p:txBody>
      </p:sp>
      <p:sp>
        <p:nvSpPr>
          <p:cNvPr id="133" name="Google Shape;133;p25"/>
          <p:cNvSpPr txBox="1"/>
          <p:nvPr>
            <p:ph idx="1" type="body"/>
          </p:nvPr>
        </p:nvSpPr>
        <p:spPr>
          <a:xfrm>
            <a:off x="74975" y="808700"/>
            <a:ext cx="3257700" cy="3821400"/>
          </a:xfrm>
          <a:prstGeom prst="rect">
            <a:avLst/>
          </a:prstGeom>
          <a:solidFill>
            <a:schemeClr val="lt1"/>
          </a:solidFill>
          <a:ln cap="flat" cmpd="sng" w="38100">
            <a:solidFill>
              <a:srgbClr val="2C5C7B"/>
            </a:solidFill>
            <a:prstDash val="solid"/>
            <a:round/>
            <a:headEnd len="sm" w="sm" type="none"/>
            <a:tailEnd len="sm" w="sm" type="none"/>
          </a:ln>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935"/>
              <a:buNone/>
            </a:pPr>
            <a:r>
              <a:rPr b="1" lang="en" sz="1130">
                <a:solidFill>
                  <a:srgbClr val="000000"/>
                </a:solidFill>
              </a:rPr>
              <a:t>KEY INSIGHT:</a:t>
            </a:r>
            <a:endParaRPr b="1" sz="1130">
              <a:solidFill>
                <a:srgbClr val="000000"/>
              </a:solidFill>
            </a:endParaRPr>
          </a:p>
          <a:p>
            <a:pPr indent="0" lvl="0" marL="0" rtl="0" algn="l">
              <a:lnSpc>
                <a:spcPct val="95000"/>
              </a:lnSpc>
              <a:spcBef>
                <a:spcPts val="1200"/>
              </a:spcBef>
              <a:spcAft>
                <a:spcPts val="0"/>
              </a:spcAft>
              <a:buSzPts val="935"/>
              <a:buNone/>
            </a:pPr>
            <a:r>
              <a:rPr lang="en" sz="1230">
                <a:solidFill>
                  <a:srgbClr val="000000"/>
                </a:solidFill>
              </a:rPr>
              <a:t>Revenue is heavily driven by a few key customers and top performing sales representatives, with Raghav Amritansh and Nancy Freehafer leading in value. </a:t>
            </a:r>
            <a:endParaRPr sz="1230">
              <a:solidFill>
                <a:srgbClr val="000000"/>
              </a:solidFill>
            </a:endParaRPr>
          </a:p>
          <a:p>
            <a:pPr indent="0" lvl="0" marL="0" rtl="0" algn="l">
              <a:lnSpc>
                <a:spcPct val="95000"/>
              </a:lnSpc>
              <a:spcBef>
                <a:spcPts val="1200"/>
              </a:spcBef>
              <a:spcAft>
                <a:spcPts val="0"/>
              </a:spcAft>
              <a:buSzPts val="935"/>
              <a:buNone/>
            </a:pPr>
            <a:r>
              <a:rPr lang="en" sz="1230">
                <a:solidFill>
                  <a:srgbClr val="000000"/>
                </a:solidFill>
              </a:rPr>
              <a:t>This concentration indicates dependency risk and uneven performance across the team. </a:t>
            </a:r>
            <a:endParaRPr sz="1230">
              <a:solidFill>
                <a:srgbClr val="000000"/>
              </a:solidFill>
            </a:endParaRPr>
          </a:p>
          <a:p>
            <a:pPr indent="0" lvl="0" marL="0" rtl="0" algn="l">
              <a:lnSpc>
                <a:spcPct val="95000"/>
              </a:lnSpc>
              <a:spcBef>
                <a:spcPts val="1200"/>
              </a:spcBef>
              <a:spcAft>
                <a:spcPts val="1200"/>
              </a:spcAft>
              <a:buSzPts val="935"/>
              <a:buNone/>
            </a:pPr>
            <a:r>
              <a:rPr lang="en" sz="1230">
                <a:solidFill>
                  <a:srgbClr val="000000"/>
                </a:solidFill>
              </a:rPr>
              <a:t>To improve stability, the company should implement customer loyalty programs, nurture mid-tier accounts, and provide coaching and development for underperforming sales reps and having one on one conversations with them.</a:t>
            </a:r>
            <a:endParaRPr sz="1230"/>
          </a:p>
        </p:txBody>
      </p:sp>
      <p:pic>
        <p:nvPicPr>
          <p:cNvPr id="134" name="Google Shape;134;p25" title="Sales Overview.PNG"/>
          <p:cNvPicPr preferRelativeResize="0"/>
          <p:nvPr/>
        </p:nvPicPr>
        <p:blipFill>
          <a:blip r:embed="rId3">
            <a:alphaModFix/>
          </a:blip>
          <a:stretch>
            <a:fillRect/>
          </a:stretch>
        </p:blipFill>
        <p:spPr>
          <a:xfrm>
            <a:off x="3281525" y="869800"/>
            <a:ext cx="5862475" cy="3760201"/>
          </a:xfrm>
          <a:prstGeom prst="rect">
            <a:avLst/>
          </a:prstGeom>
          <a:noFill/>
          <a:ln cap="flat" cmpd="sng" w="38100">
            <a:solidFill>
              <a:srgbClr val="2C5C7B"/>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218600" y="0"/>
            <a:ext cx="8925300" cy="596100"/>
          </a:xfrm>
          <a:prstGeom prst="rect">
            <a:avLst/>
          </a:prstGeom>
          <a:solidFill>
            <a:srgbClr val="2C5C7B"/>
          </a:solidFill>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b="1" lang="en" sz="1800"/>
              <a:t>                        </a:t>
            </a:r>
            <a:r>
              <a:rPr b="1" lang="en" sz="2200">
                <a:solidFill>
                  <a:schemeClr val="lt1"/>
                </a:solidFill>
              </a:rPr>
              <a:t>PRODUCT AND INVENTORY INTELLIGENCE</a:t>
            </a:r>
            <a:endParaRPr b="1" sz="3900">
              <a:solidFill>
                <a:schemeClr val="lt1"/>
              </a:solidFill>
            </a:endParaRPr>
          </a:p>
        </p:txBody>
      </p:sp>
      <p:sp>
        <p:nvSpPr>
          <p:cNvPr id="140" name="Google Shape;140;p26"/>
          <p:cNvSpPr txBox="1"/>
          <p:nvPr>
            <p:ph idx="1" type="body"/>
          </p:nvPr>
        </p:nvSpPr>
        <p:spPr>
          <a:xfrm>
            <a:off x="218600" y="596050"/>
            <a:ext cx="3078900" cy="4383900"/>
          </a:xfrm>
          <a:prstGeom prst="rect">
            <a:avLst/>
          </a:prstGeom>
          <a:solidFill>
            <a:schemeClr val="lt1"/>
          </a:solidFill>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40000" lnSpcReduction="10000"/>
          </a:bodyPr>
          <a:lstStyle/>
          <a:p>
            <a:pPr indent="0" lvl="0" marL="0" rtl="0" algn="l">
              <a:spcBef>
                <a:spcPts val="1200"/>
              </a:spcBef>
              <a:spcAft>
                <a:spcPts val="0"/>
              </a:spcAft>
              <a:buClr>
                <a:schemeClr val="dk1"/>
              </a:buClr>
              <a:buFont typeface="Arial"/>
              <a:buNone/>
            </a:pPr>
            <a:r>
              <a:rPr b="1" lang="en" sz="2474">
                <a:solidFill>
                  <a:schemeClr val="dk1"/>
                </a:solidFill>
              </a:rPr>
              <a:t>KEY INSIGHT</a:t>
            </a:r>
            <a:endParaRPr b="1" sz="2474">
              <a:solidFill>
                <a:schemeClr val="dk1"/>
              </a:solidFill>
            </a:endParaRPr>
          </a:p>
          <a:p>
            <a:pPr indent="0" lvl="0" marL="0" rtl="0" algn="l">
              <a:spcBef>
                <a:spcPts val="1200"/>
              </a:spcBef>
              <a:spcAft>
                <a:spcPts val="0"/>
              </a:spcAft>
              <a:buNone/>
            </a:pPr>
            <a:r>
              <a:rPr lang="en" sz="2424">
                <a:solidFill>
                  <a:schemeClr val="dk1"/>
                </a:solidFill>
              </a:rPr>
              <a:t>We have 45 active products with none discontinued, but 5 products are currently running below their safe reorder level. </a:t>
            </a:r>
            <a:endParaRPr sz="2424">
              <a:solidFill>
                <a:schemeClr val="dk1"/>
              </a:solidFill>
            </a:endParaRPr>
          </a:p>
          <a:p>
            <a:pPr indent="0" lvl="0" marL="0" rtl="0" algn="l">
              <a:spcBef>
                <a:spcPts val="1200"/>
              </a:spcBef>
              <a:spcAft>
                <a:spcPts val="0"/>
              </a:spcAft>
              <a:buNone/>
            </a:pPr>
            <a:r>
              <a:rPr lang="en" sz="2424">
                <a:solidFill>
                  <a:schemeClr val="dk1"/>
                </a:solidFill>
              </a:rPr>
              <a:t>Coffee and Beer are our top sellers, Supplier D is our most critical partner, and two products have no minimum reorder quantity set this means they will not restock automatically even when they r</a:t>
            </a:r>
            <a:r>
              <a:rPr lang="en" sz="2424">
                <a:solidFill>
                  <a:schemeClr val="dk1"/>
                </a:solidFill>
              </a:rPr>
              <a:t>un out</a:t>
            </a:r>
            <a:endParaRPr sz="2424">
              <a:solidFill>
                <a:schemeClr val="dk1"/>
              </a:solidFill>
            </a:endParaRPr>
          </a:p>
          <a:p>
            <a:pPr indent="0" lvl="0" marL="0" rtl="0" algn="l">
              <a:spcBef>
                <a:spcPts val="1200"/>
              </a:spcBef>
              <a:spcAft>
                <a:spcPts val="0"/>
              </a:spcAft>
              <a:buClr>
                <a:schemeClr val="dk1"/>
              </a:buClr>
              <a:buFont typeface="Arial"/>
              <a:buNone/>
            </a:pPr>
            <a:r>
              <a:rPr lang="en" sz="2474">
                <a:solidFill>
                  <a:schemeClr val="dk1"/>
                </a:solidFill>
              </a:rPr>
              <a:t>The product range is healthy and well maintained, but the 5 products below reorder level need immediate attention before they hit zero. </a:t>
            </a:r>
            <a:endParaRPr sz="2474">
              <a:solidFill>
                <a:schemeClr val="dk1"/>
              </a:solidFill>
            </a:endParaRPr>
          </a:p>
          <a:p>
            <a:pPr indent="0" lvl="0" marL="0" rtl="0" algn="l">
              <a:spcBef>
                <a:spcPts val="1200"/>
              </a:spcBef>
              <a:spcAft>
                <a:spcPts val="0"/>
              </a:spcAft>
              <a:buClr>
                <a:schemeClr val="dk1"/>
              </a:buClr>
              <a:buFont typeface="Arial"/>
              <a:buNone/>
            </a:pPr>
            <a:r>
              <a:rPr lang="en" sz="2474">
                <a:solidFill>
                  <a:schemeClr val="dk1"/>
                </a:solidFill>
              </a:rPr>
              <a:t>Chicken Soup and one Vegetables shows a minimum reorder quantity of 0 which we must have their reorder quantities updated today to prevent stock outs. </a:t>
            </a:r>
            <a:endParaRPr sz="2474">
              <a:solidFill>
                <a:schemeClr val="dk1"/>
              </a:solidFill>
            </a:endParaRPr>
          </a:p>
          <a:p>
            <a:pPr indent="0" lvl="0" marL="0" rtl="0" algn="l">
              <a:spcBef>
                <a:spcPts val="1200"/>
              </a:spcBef>
              <a:spcAft>
                <a:spcPts val="0"/>
              </a:spcAft>
              <a:buClr>
                <a:schemeClr val="dk1"/>
              </a:buClr>
              <a:buFont typeface="Arial"/>
              <a:buNone/>
            </a:pPr>
            <a:r>
              <a:rPr lang="en" sz="2474">
                <a:solidFill>
                  <a:schemeClr val="dk1"/>
                </a:solidFill>
              </a:rPr>
              <a:t>Supplier D contributes nearly double the revenue of any other supplier so having  a backup supplier for their product lines will protect the business from disruptions we cannot control</a:t>
            </a:r>
            <a:endParaRPr sz="2474">
              <a:solidFill>
                <a:schemeClr val="dk1"/>
              </a:solidFill>
            </a:endParaRPr>
          </a:p>
          <a:p>
            <a:pPr indent="0" lvl="0" marL="0" rtl="0" algn="l">
              <a:spcBef>
                <a:spcPts val="1200"/>
              </a:spcBef>
              <a:spcAft>
                <a:spcPts val="1200"/>
              </a:spcAft>
              <a:buNone/>
            </a:pPr>
            <a:r>
              <a:t/>
            </a:r>
            <a:endParaRPr/>
          </a:p>
        </p:txBody>
      </p:sp>
      <p:pic>
        <p:nvPicPr>
          <p:cNvPr id="141" name="Google Shape;141;p26" title="Product and Inventory Intelligence Analysis.PNG"/>
          <p:cNvPicPr preferRelativeResize="0"/>
          <p:nvPr/>
        </p:nvPicPr>
        <p:blipFill>
          <a:blip r:embed="rId3">
            <a:alphaModFix/>
          </a:blip>
          <a:stretch>
            <a:fillRect/>
          </a:stretch>
        </p:blipFill>
        <p:spPr>
          <a:xfrm>
            <a:off x="3358625" y="596050"/>
            <a:ext cx="5785276" cy="4332900"/>
          </a:xfrm>
          <a:prstGeom prst="rect">
            <a:avLst/>
          </a:prstGeom>
          <a:noFill/>
          <a:ln cap="flat" cmpd="sng" w="38100">
            <a:solidFill>
              <a:srgbClr val="2C5C7B"/>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0" y="0"/>
            <a:ext cx="9199200" cy="635700"/>
          </a:xfrm>
          <a:prstGeom prst="rect">
            <a:avLst/>
          </a:prstGeom>
          <a:solidFill>
            <a:srgbClr val="2C5C7B"/>
          </a:solidFill>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b="1" lang="en" sz="2578">
                <a:solidFill>
                  <a:schemeClr val="lt1"/>
                </a:solidFill>
              </a:rPr>
              <a:t>OPERATIONS AND LOGISTICS ANALYSIS</a:t>
            </a:r>
            <a:endParaRPr b="1" sz="2578">
              <a:solidFill>
                <a:schemeClr val="lt1"/>
              </a:solidFill>
            </a:endParaRPr>
          </a:p>
        </p:txBody>
      </p:sp>
      <p:sp>
        <p:nvSpPr>
          <p:cNvPr id="147" name="Google Shape;147;p27"/>
          <p:cNvSpPr txBox="1"/>
          <p:nvPr>
            <p:ph idx="1" type="body"/>
          </p:nvPr>
        </p:nvSpPr>
        <p:spPr>
          <a:xfrm>
            <a:off x="2136950" y="635700"/>
            <a:ext cx="7007100" cy="4440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7" title="Operation and Logistics Analysis.PNG"/>
          <p:cNvPicPr preferRelativeResize="0"/>
          <p:nvPr/>
        </p:nvPicPr>
        <p:blipFill>
          <a:blip r:embed="rId3">
            <a:alphaModFix/>
          </a:blip>
          <a:stretch>
            <a:fillRect/>
          </a:stretch>
        </p:blipFill>
        <p:spPr>
          <a:xfrm>
            <a:off x="2137000" y="635700"/>
            <a:ext cx="7007102" cy="4369282"/>
          </a:xfrm>
          <a:prstGeom prst="rect">
            <a:avLst/>
          </a:prstGeom>
          <a:noFill/>
          <a:ln>
            <a:noFill/>
          </a:ln>
        </p:spPr>
      </p:pic>
      <p:sp>
        <p:nvSpPr>
          <p:cNvPr id="149" name="Google Shape;149;p27"/>
          <p:cNvSpPr txBox="1"/>
          <p:nvPr/>
        </p:nvSpPr>
        <p:spPr>
          <a:xfrm>
            <a:off x="0" y="635700"/>
            <a:ext cx="2136900" cy="4440600"/>
          </a:xfrm>
          <a:prstGeom prst="rect">
            <a:avLst/>
          </a:prstGeom>
          <a:noFill/>
          <a:ln cap="flat" cmpd="sng" w="38100">
            <a:solidFill>
              <a:srgbClr val="2C5C7B"/>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900">
                <a:solidFill>
                  <a:schemeClr val="dk2"/>
                </a:solidFill>
              </a:rPr>
              <a:t>KEY INSIGHT</a:t>
            </a:r>
            <a:r>
              <a:rPr b="1" lang="en" sz="1000">
                <a:solidFill>
                  <a:schemeClr val="dk1"/>
                </a:solidFill>
              </a:rPr>
              <a:t> :</a:t>
            </a:r>
            <a:endParaRPr b="1" sz="1000">
              <a:solidFill>
                <a:schemeClr val="dk1"/>
              </a:solidFill>
            </a:endParaRPr>
          </a:p>
          <a:p>
            <a:pPr indent="0" lvl="0" marL="0" rtl="0" algn="l">
              <a:spcBef>
                <a:spcPts val="0"/>
              </a:spcBef>
              <a:spcAft>
                <a:spcPts val="0"/>
              </a:spcAft>
              <a:buNone/>
            </a:pPr>
            <a:r>
              <a:t/>
            </a:r>
            <a:endParaRPr b="1" sz="1000">
              <a:solidFill>
                <a:schemeClr val="dk1"/>
              </a:solidFill>
            </a:endParaRPr>
          </a:p>
          <a:p>
            <a:pPr indent="0" lvl="0" marL="0" rtl="0" algn="l">
              <a:spcBef>
                <a:spcPts val="0"/>
              </a:spcBef>
              <a:spcAft>
                <a:spcPts val="0"/>
              </a:spcAft>
              <a:buNone/>
            </a:pPr>
            <a:r>
              <a:rPr lang="en" sz="1000">
                <a:solidFill>
                  <a:schemeClr val="dk1"/>
                </a:solidFill>
              </a:rPr>
              <a:t>The logistics operation is performing well, with orders shipped in less than one day on average and only one late delivery recorded.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The late delivery is linked to a specific carrier on repeated routes. Q1 revenue was higher than Q2, partly due to slower shipping in January and February. </a:t>
            </a:r>
            <a:endParaRPr sz="1000">
              <a:solidFill>
                <a:schemeClr val="dk1"/>
              </a:solidFill>
            </a:endParaRPr>
          </a:p>
          <a:p>
            <a:pPr indent="0" lvl="0" marL="0" rtl="0" algn="l">
              <a:spcBef>
                <a:spcPts val="0"/>
              </a:spcBef>
              <a:spcAft>
                <a:spcPts val="0"/>
              </a:spcAft>
              <a:buNone/>
            </a:pPr>
            <a:r>
              <a:t/>
            </a:r>
            <a:endParaRPr sz="1000">
              <a:solidFill>
                <a:schemeClr val="dk1"/>
              </a:solidFill>
            </a:endParaRPr>
          </a:p>
          <a:p>
            <a:pPr indent="0" lvl="0" marL="0" rtl="0" algn="l">
              <a:spcBef>
                <a:spcPts val="0"/>
              </a:spcBef>
              <a:spcAft>
                <a:spcPts val="0"/>
              </a:spcAft>
              <a:buNone/>
            </a:pPr>
            <a:r>
              <a:rPr lang="en" sz="1000">
                <a:solidFill>
                  <a:schemeClr val="dk1"/>
                </a:solidFill>
              </a:rPr>
              <a:t>To improve performance, management should review carrier allocation for critical routes and investigate the Q2 revenue decline to better support future planning and growth </a:t>
            </a:r>
            <a:endParaRPr b="1" sz="9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0" y="0"/>
            <a:ext cx="9144000" cy="411600"/>
          </a:xfrm>
          <a:prstGeom prst="rect">
            <a:avLst/>
          </a:prstGeom>
          <a:solidFill>
            <a:srgbClr val="2C5C7B"/>
          </a:solidFill>
          <a:ln cap="flat" cmpd="sng" w="38100">
            <a:solidFill>
              <a:srgbClr val="2C5C7B"/>
            </a:solidFill>
            <a:prstDash val="solid"/>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SzPct val="42672"/>
              <a:buNone/>
            </a:pPr>
            <a:r>
              <a:rPr b="1" lang="en" sz="2320"/>
              <a:t>                                         </a:t>
            </a:r>
            <a:r>
              <a:rPr b="1" lang="en" sz="2320">
                <a:solidFill>
                  <a:schemeClr val="lt1"/>
                </a:solidFill>
              </a:rPr>
              <a:t>BUSINESS ANALYSIS</a:t>
            </a:r>
            <a:endParaRPr b="1" sz="2320">
              <a:solidFill>
                <a:schemeClr val="lt1"/>
              </a:solidFill>
            </a:endParaRPr>
          </a:p>
        </p:txBody>
      </p:sp>
      <p:sp>
        <p:nvSpPr>
          <p:cNvPr id="155" name="Google Shape;155;p28"/>
          <p:cNvSpPr txBox="1"/>
          <p:nvPr>
            <p:ph idx="1" type="body"/>
          </p:nvPr>
        </p:nvSpPr>
        <p:spPr>
          <a:xfrm>
            <a:off x="125" y="411600"/>
            <a:ext cx="9144000" cy="4998900"/>
          </a:xfrm>
          <a:prstGeom prst="rect">
            <a:avLst/>
          </a:prstGeom>
          <a:solidFill>
            <a:schemeClr val="lt1"/>
          </a:solidFill>
          <a:ln cap="flat" cmpd="sng" w="38100">
            <a:solidFill>
              <a:srgbClr val="2C5C7B"/>
            </a:solidFill>
            <a:prstDash val="solid"/>
            <a:round/>
            <a:headEnd len="sm" w="sm" type="none"/>
            <a:tailEnd len="sm" w="sm" type="none"/>
          </a:ln>
        </p:spPr>
        <p:txBody>
          <a:bodyPr anchorCtr="0" anchor="t" bIns="91425" lIns="91425" spcFirstLastPara="1" rIns="0" wrap="square" tIns="91425">
            <a:noAutofit/>
          </a:bodyPr>
          <a:lstStyle/>
          <a:p>
            <a:pPr indent="0" lvl="0" marL="0" rtl="0" algn="l">
              <a:spcBef>
                <a:spcPts val="1200"/>
              </a:spcBef>
              <a:spcAft>
                <a:spcPts val="0"/>
              </a:spcAft>
              <a:buSzPts val="1100"/>
              <a:buNone/>
            </a:pPr>
            <a:r>
              <a:rPr lang="en" sz="1000">
                <a:solidFill>
                  <a:schemeClr val="dk1"/>
                </a:solidFill>
              </a:rPr>
              <a:t>The analysis shows that Northwind Traders is performing well  with strong growth in revenue and order volume. Sales increased by 13.9%, while total orders increased by 20%, showing healthy customer demand. Operations are also efficient, with fast delivery times and very few late shipments, which supports good customer satisfaction.Customer and employee analysis highlights that business performance is driven by a small number of key contributors. A few customers generate a large portion of revenue, and a small group of sales representatives account for most of the sales performance. While this reflects strong relationships and high-performing staff, it also shows a dependency on limited customers and employees, which could be a risk if performance changes in the future.</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The review of sales trends also shows that revenue was stronger in Q1 compared to Q2, suggesting that performance is not fully consistent throughout the year. This should be further investigated to understand what factors contributed to the decline and how future performance can be stabilized.</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From a product and supply chain perspective, the business currently has 45 active products with no discontinued items, showing a stable product range. However, five products are below their safe reorder level, which requires immediate attention to prevent stock shortages. In addition, two products (including Chicken Soup and a vegetable product) have no minimum reorder quantity set, meaning they may not automatically restock when inventory runs out. This presents a risk of unexpected stockouts.</a:t>
            </a:r>
            <a:endParaRPr sz="1000">
              <a:solidFill>
                <a:schemeClr val="dk1"/>
              </a:solidFill>
            </a:endParaRPr>
          </a:p>
          <a:p>
            <a:pPr indent="-57150" lvl="0" marL="0" rtl="0" algn="l">
              <a:spcBef>
                <a:spcPts val="1200"/>
              </a:spcBef>
              <a:spcAft>
                <a:spcPts val="0"/>
              </a:spcAft>
              <a:buSzPts val="1100"/>
              <a:buNone/>
            </a:pPr>
            <a:r>
              <a:rPr lang="en" sz="1000">
                <a:solidFill>
                  <a:schemeClr val="dk1"/>
                </a:solidFill>
              </a:rPr>
              <a:t>Coffee and Beer are the strongest-selling products, while Supplier D is the most critical supplier, contributing nearly double the revenue of any other supplier. While this indicates strong supplier performance, it also creates a dependency risk. If Supplier D experiences any disruption, it could significantly impact product availability. To reduce this risk, the business should consider securing backup suppliers for key product lines.</a:t>
            </a:r>
            <a:endParaRPr b="1" sz="13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Conclusively, Power BI dashboards provide Northwind Traders with a clear and unified view of business performance across sales, customers, employees, operations, and inventory. The analysis shows strong overall growth, efficient operations, and valuable customer relationships that drive revenue.</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At the same time, the findings highlight key areas for improvement, including customer concentration, performance differences across employees, seasonal fluctuations in revenue, and inventory management risks. Addressing these areas will help improve stability and reduce business risk.</a:t>
            </a:r>
            <a:endParaRPr sz="1000">
              <a:solidFill>
                <a:schemeClr val="dk1"/>
              </a:solidFill>
            </a:endParaRPr>
          </a:p>
          <a:p>
            <a:pPr indent="0" lvl="0" marL="0" rtl="0" algn="l">
              <a:spcBef>
                <a:spcPts val="1200"/>
              </a:spcBef>
              <a:spcAft>
                <a:spcPts val="0"/>
              </a:spcAft>
              <a:buClr>
                <a:schemeClr val="dk1"/>
              </a:buClr>
              <a:buSzPts val="1100"/>
              <a:buFont typeface="Arial"/>
              <a:buNone/>
            </a:pPr>
            <a:r>
              <a:rPr lang="en" sz="1000">
                <a:solidFill>
                  <a:schemeClr val="dk1"/>
                </a:solidFill>
              </a:rPr>
              <a:t>The dashboards transform complex data into clear and actionable insights, enabling faster and more informed decision making. By </a:t>
            </a:r>
            <a:r>
              <a:rPr lang="en" sz="1000">
                <a:solidFill>
                  <a:schemeClr val="dk1"/>
                </a:solidFill>
              </a:rPr>
              <a:t>consistently</a:t>
            </a:r>
            <a:r>
              <a:rPr lang="en" sz="1000">
                <a:solidFill>
                  <a:schemeClr val="dk1"/>
                </a:solidFill>
              </a:rPr>
              <a:t> monitoring performance and improving supply chain resilience through better inventory controls and supplier diversification, Northwind Traders can strengthen long-term growth and operational stability.</a:t>
            </a:r>
            <a:endParaRPr sz="1000">
              <a:solidFill>
                <a:schemeClr val="dk1"/>
              </a:solidFill>
            </a:endParaRPr>
          </a:p>
          <a:p>
            <a:pPr indent="0" lvl="0" marL="0" rtl="0" algn="l">
              <a:lnSpc>
                <a:spcPct val="105000"/>
              </a:lnSpc>
              <a:spcBef>
                <a:spcPts val="1200"/>
              </a:spcBef>
              <a:spcAft>
                <a:spcPts val="1200"/>
              </a:spcAft>
              <a:buSzPts val="523"/>
              <a:buNone/>
            </a:pPr>
            <a:r>
              <a:t/>
            </a:r>
            <a:endParaRPr b="1" sz="2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